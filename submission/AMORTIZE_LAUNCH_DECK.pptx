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9596b1cb754bef" /><Relationship Type="http://schemas.openxmlformats.org/officeDocument/2006/relationships/extended-properties" Target="/docProps/app.xml" Id="Rec9d540f28d94138" /><Relationship Type="http://schemas.openxmlformats.org/officeDocument/2006/relationships/officeDocument" Target="/ppt/presentation.xml" Id="R8bf6e8bfcdc64f97" /></Relationships>
</file>

<file path=ppt/presentation.xml><?xml version="1.0" encoding="utf-8"?>
<p:presentation xmlns:p="http://schemas.openxmlformats.org/presentationml/2006/main">
  <p:sldMasterIdLst>
    <p:sldMasterId xmlns:r="http://schemas.openxmlformats.org/officeDocument/2006/relationships" id="2147483648" r:id="Rf6c4bfed4caf44ad"/>
  </p:sldMasterIdLst>
  <p:notesMasterIdLst>
    <p:notesMasterId xmlns:r="http://schemas.openxmlformats.org/officeDocument/2006/relationships" r:id="Rae096e8a6c9e4062"/>
  </p:notesMasterIdLst>
  <p:sldIdLst>
    <p:sldId xmlns:r="http://schemas.openxmlformats.org/officeDocument/2006/relationships" id="256" r:id="Ra2be3da7688e4a9b"/>
    <p:sldId xmlns:r="http://schemas.openxmlformats.org/officeDocument/2006/relationships" id="257" r:id="R71f679668fce4146"/>
    <p:sldId xmlns:r="http://schemas.openxmlformats.org/officeDocument/2006/relationships" id="258" r:id="Rc1be13e223af4aba"/>
    <p:sldId xmlns:r="http://schemas.openxmlformats.org/officeDocument/2006/relationships" id="259" r:id="R227b920a43bb4594"/>
    <p:sldId xmlns:r="http://schemas.openxmlformats.org/officeDocument/2006/relationships" id="260" r:id="Ra17ff829f0f8413e"/>
    <p:sldId xmlns:r="http://schemas.openxmlformats.org/officeDocument/2006/relationships" id="261" r:id="R4c81c54af68a46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1c4e0725ed4a47" /><Relationship Type="http://schemas.openxmlformats.org/officeDocument/2006/relationships/slideMaster" Target="/ppt/slideMasters/slideMaster1.xml" Id="Rf6c4bfed4caf44ad" /><Relationship Type="http://schemas.openxmlformats.org/officeDocument/2006/relationships/notesMaster" Target="/ppt/notesMasters/notesMaster1.xml" Id="Rae096e8a6c9e4062" /><Relationship Type="http://schemas.openxmlformats.org/officeDocument/2006/relationships/presProps" Target="/ppt/presProps.xml" Id="R44ec940d997a448e" /><Relationship Type="http://schemas.openxmlformats.org/officeDocument/2006/relationships/tableStyles" Target="/ppt/tableStyles.xml" Id="R2dcb52bdf7c54af0" /><Relationship Type="http://schemas.openxmlformats.org/officeDocument/2006/relationships/slide" Target="/ppt/slides/slide1.xml" Id="Ra2be3da7688e4a9b" /><Relationship Type="http://schemas.openxmlformats.org/officeDocument/2006/relationships/slide" Target="/ppt/slides/slide2.xml" Id="R71f679668fce4146" /><Relationship Type="http://schemas.openxmlformats.org/officeDocument/2006/relationships/slide" Target="/ppt/slides/slide3.xml" Id="Rc1be13e223af4aba" /><Relationship Type="http://schemas.openxmlformats.org/officeDocument/2006/relationships/slide" Target="/ppt/slides/slide4.xml" Id="R227b920a43bb4594" /><Relationship Type="http://schemas.openxmlformats.org/officeDocument/2006/relationships/slide" Target="/ppt/slides/slide5.xml" Id="Ra17ff829f0f8413e" /><Relationship Type="http://schemas.openxmlformats.org/officeDocument/2006/relationships/slide" Target="/ppt/slides/slide6.xml" Id="R4c81c54af68a46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43147ebc7043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4d30e168124a51" /><Relationship Type="http://schemas.openxmlformats.org/officeDocument/2006/relationships/notesMaster" Target="/ppt/notesMasters/notesMaster1.xml" Id="Rd4679b75e86547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75e1b894084389" /><Relationship Type="http://schemas.openxmlformats.org/officeDocument/2006/relationships/notesMaster" Target="/ppt/notesMasters/notesMaster1.xml" Id="Ra010023aa7f441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8f02ddd00f42c6" /><Relationship Type="http://schemas.openxmlformats.org/officeDocument/2006/relationships/notesMaster" Target="/ppt/notesMasters/notesMaster1.xml" Id="Rbab344225b044d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cd7fce80b34c5e" /><Relationship Type="http://schemas.openxmlformats.org/officeDocument/2006/relationships/notesMaster" Target="/ppt/notesMasters/notesMaster1.xml" Id="Rb5f1a2e0ec974e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1078a4b276454b" /><Relationship Type="http://schemas.openxmlformats.org/officeDocument/2006/relationships/notesMaster" Target="/ppt/notesMasters/notesMaster1.xml" Id="R0fa1f5ac254b47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5bbdd88408448b" /><Relationship Type="http://schemas.openxmlformats.org/officeDocument/2006/relationships/notesMaster" Target="/ppt/notesMasters/notesMaster1.xml" Id="Rf01dacc7a63146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inside the product: ‘This agent just triaged 30 support tickets. Ask it to repeat tomorrow, and the company pays it to reload every tool and rediscover the same procedure. Agents learn. Their economics don’t.’</a:t>
            </a:r>
          </a:p>
          <a:p xmlns:a="http://schemas.openxmlformats.org/drawingml/2006/main">
            <a:r>
              <a:t/>
            </a:r>
          </a:p>
          <a:p xmlns:a="http://schemas.openxmlformats.org/drawingml/2006/main">
            <a:r>
              <a:t>[Sources]</a:t>
            </a:r>
          </a:p>
          <a:p xmlns:a="http://schemas.openxmlformats.org/drawingml/2006/main">
            <a:r>
              <a:t>- submission/PITCH_SCRIPT.md</a:t>
            </a:r>
          </a:p>
          <a:p xmlns:a="http://schemas.openxmlformats.org/drawingml/2006/main">
            <a:r>
              <a:t>- submission/README.md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to one sentence. The visual is a single accumulating invoice, not three separate products.</a:t>
            </a:r>
          </a:p>
          <a:p xmlns:a="http://schemas.openxmlformats.org/drawingml/2006/main">
            <a:r>
              <a:t/>
            </a:r>
          </a:p>
          <a:p xmlns:a="http://schemas.openxmlformats.org/drawingml/2006/main">
            <a:r>
              <a:t>[Sources]</a:t>
            </a:r>
          </a:p>
          <a:p xmlns:a="http://schemas.openxmlformats.org/drawingml/2006/main">
            <a:r>
              <a:t>- submission/README.md</a:t>
            </a:r>
          </a:p>
          <a:p xmlns:a="http://schemas.openxmlformats.org/drawingml/2006/main">
            <a:r>
              <a:t>- submission/ENTERPRISE_ONE_PAGER.md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the entire integration. Same client. Same model interface. Same eight tools. One base URL now routes the workflow through Amortize.’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submission/PITCH_SCRIPT.md</a:t>
            </a:r>
          </a:p>
          <a:p xmlns:a="http://schemas.openxmlformats.org/drawingml/2006/main">
            <a:r>
              <a:t>- amort/proxy/server.py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LIGHTEN is merged and acceptance-green. The current unit gate is 1,497 to 518 estimated schema tokens, or 65.4%. Say both live raw inputs: 41,058 to 34,820. The 15.2% result is one measured pair, not a mean or dollar-cost claim. Field-exact parity passed. Guarded REPLAY remains next.</a:t>
            </a:r>
          </a:p>
          <a:p xmlns:a="http://schemas.openxmlformats.org/drawingml/2006/main">
            <a:r>
              <a:t/>
            </a:r>
          </a:p>
          <a:p xmlns:a="http://schemas.openxmlformats.org/drawingml/2006/main">
            <a:r>
              <a:t>[Sources]</a:t>
            </a:r>
          </a:p>
          <a:p xmlns:a="http://schemas.openxmlformats.org/drawingml/2006/main">
            <a:r>
              <a:t>- BUILD_REPORT.md</a:t>
            </a:r>
          </a:p>
          <a:p xmlns:a="http://schemas.openxmlformats.org/drawingml/2006/main">
            <a:r>
              <a:t>- submission/METRICS.md</a:t>
            </a:r>
          </a:p>
          <a:p xmlns:a="http://schemas.openxmlformats.org/drawingml/2006/main">
            <a:r>
              <a:t>- scripts/accept_layer1.py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‘Don’t trust the percentage. Query it.’ Snowflake records run/step economics. The signed report records parity and accuracy. Join them by run ID; do not claim a Snowflake quality-grade event until it is implemented.</a:t>
            </a:r>
          </a:p>
          <a:p xmlns:a="http://schemas.openxmlformats.org/drawingml/2006/main">
            <a:r>
              <a:t/>
            </a:r>
          </a:p>
          <a:p xmlns:a="http://schemas.openxmlformats.org/drawingml/2006/main">
            <a:r>
              <a:t>[Sources]</a:t>
            </a:r>
          </a:p>
          <a:p xmlns:a="http://schemas.openxmlformats.org/drawingml/2006/main">
            <a:r>
              <a:t>- submission/DEMO_QUERIES.sql</a:t>
            </a:r>
          </a:p>
          <a:p xmlns:a="http://schemas.openxmlformats.org/drawingml/2006/main">
            <a:r>
              <a:t>- submission/README.md</a:t>
            </a:r>
          </a:p>
          <a:p xmlns:a="http://schemas.openxmlformats.org/drawingml/2006/main">
            <a:r>
              <a:t>- amort/demo/report.py</a:t>
            </a:r>
          </a:p>
          <a:p xmlns:a="http://schemas.openxmlformats.org/drawingml/2006/main">
            <a:r>
              <a:t>- amort/ledger/events.py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‘Companies don’t buy tokens. They buy completed work. AI agents should have a learning curve—and finance should have the receipt. Amortize. The cost drops. The graded output doesn’t.’ Stop speaking and leave the repository URL visible.</a:t>
            </a:r>
          </a:p>
          <a:p xmlns:a="http://schemas.openxmlformats.org/drawingml/2006/main">
            <a:r>
              <a:t/>
            </a:r>
          </a:p>
          <a:p xmlns:a="http://schemas.openxmlformats.org/drawingml/2006/main">
            <a:r>
              <a:t>[Sources]</a:t>
            </a:r>
          </a:p>
          <a:p xmlns:a="http://schemas.openxmlformats.org/drawingml/2006/main">
            <a:r>
              <a:t>- submission/PITCH_SCRIPT.md</a:t>
            </a:r>
          </a:p>
          <a:p xmlns:a="http://schemas.openxmlformats.org/drawingml/2006/main">
            <a:r>
              <a:t>- submission/ENTERPRISE_ONE_PAGER.md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b5297276134e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785ffbe2d740b1" /><Relationship Type="http://schemas.openxmlformats.org/officeDocument/2006/relationships/slideLayout" Target="/ppt/slideLayouts/slideLayout1.xml" Id="Rceea4843b89448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ea4843b89448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5802cdea494af9" /><Relationship Type="http://schemas.openxmlformats.org/officeDocument/2006/relationships/notesSlide" Target="/ppt/notesSlides/notesSlide1.xml" Id="R5abc571417794a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23afc8466e433b" /><Relationship Type="http://schemas.openxmlformats.org/officeDocument/2006/relationships/notesSlide" Target="/ppt/notesSlides/notesSlide2.xml" Id="R20aa8eba2d324f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f5537025164d62" /><Relationship Type="http://schemas.openxmlformats.org/officeDocument/2006/relationships/notesSlide" Target="/ppt/notesSlides/notesSlide3.xml" Id="Rba7151c9448745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40745bd17248df" /><Relationship Type="http://schemas.openxmlformats.org/officeDocument/2006/relationships/notesSlide" Target="/ppt/notesSlides/notesSlide4.xml" Id="R98dd31dc820e47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5e171d959d47ee" /><Relationship Type="http://schemas.openxmlformats.org/officeDocument/2006/relationships/notesSlide" Target="/ppt/notesSlides/notesSlide5.xml" Id="Rf66f51e06e3644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6646e596974a94" /><Relationship Type="http://schemas.openxmlformats.org/officeDocument/2006/relationships/notesSlide" Target="/ppt/notesSlides/notesSlide6.xml" Id="Rd9a9e44682e441c2" /></Relationships>
</file>

<file path=ppt/slides/slide1.xml><?xml version="1.0" encoding="utf-8"?>
<p:sld xmlns:p="http://schemas.openxmlformats.org/presentationml/2006/main">
  <p:cSld>
    <p:bg>
      <p:bgPr>
        <a:solidFill xmlns:a="http://schemas.openxmlformats.org/drawingml/2006/main">
          <a:srgbClr val="070A0F"/>
        </a:solidFill>
      </p:bgPr>
    </p:bg>
    <p:spTree>
      <p:nvGrpSpPr>
        <p:cNvPr id="1" name=""/>
        <p:cNvGrpSpPr/>
        <p:nvPr/>
      </p:nvGrpSpPr>
      <p:grpSpPr>
        <a:xfrm xmlns:a="http://schemas.openxmlformats.org/drawingml/2006/main"/>
      </p:grpSpPr>
      <p:sp>
        <p:nvSpPr>
          <p:cNvPr id="18" name="eyebrow-1">
            <a:extLst xmlns:a="http://schemas.openxmlformats.org/drawingml/2006/main">
              <a:ext uri="{FF2B5EF4-FFF2-40B4-BE49-F238E27FC236}">
                <a16:creationId xmlns:a16="http://schemas.microsoft.com/office/drawing/2014/main" id="{1632507A-E50C-42A1-8FC6-43760DC4B119}"/>
              </a:ext>
            </a:extLst>
          </p:cNvPr>
          <p:cNvSpPr>
            <a:spLocks xmlns:a="http://schemas.openxmlformats.org/drawingml/2006/main" noGrp="1"/>
          </p:cNvSpPr>
          <p:nvPr/>
        </p:nvSpPr>
        <p:spPr>
          <a:xfrm xmlns:a="http://schemas.openxmlformats.org/drawingml/2006/main">
            <a:off x="609600" y="3619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9B5E8"/>
                </a:solidFill>
                <a:latin typeface="Consolas"/>
                <a:ea typeface="Consolas"/>
                <a:cs typeface="Consolas"/>
              </a:defRPr>
            </a:pPr>
            <a:r>
              <a:rPr sz="1200" b="1">
                <a:solidFill>
                  <a:srgbClr val="29B5E8"/>
                </a:solidFill>
                <a:latin typeface="Consolas"/>
                <a:ea typeface="Consolas"/>
                <a:cs typeface="Consolas"/>
              </a:rPr>
              <a:t>SNOWFLAKE × BETA FUND · TECHNICAL PREVIEW</a:t>
            </a:r>
          </a:p>
        </p:txBody>
      </p:sp>
      <p:sp>
        <p:nvSpPr>
          <p:cNvPr id="2" name="number-1">
            <a:extLst xmlns:a="http://schemas.openxmlformats.org/drawingml/2006/main">
              <a:ext uri="{FF2B5EF4-FFF2-40B4-BE49-F238E27FC236}">
                <a16:creationId xmlns:a16="http://schemas.microsoft.com/office/drawing/2014/main" id="{B46541BA-1963-41E6-845F-FAF9863A5FD1}"/>
              </a:ext>
            </a:extLst>
          </p:cNvPr>
          <p:cNvSpPr>
            <a:spLocks xmlns:a="http://schemas.openxmlformats.org/drawingml/2006/main" noGrp="1"/>
          </p:cNvSpPr>
          <p:nvPr/>
        </p:nvSpPr>
        <p:spPr>
          <a:xfrm xmlns:a="http://schemas.openxmlformats.org/drawingml/2006/main">
            <a:off x="11087100" y="3619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8B95A7"/>
                </a:solidFill>
                <a:latin typeface="Consolas"/>
                <a:ea typeface="Consolas"/>
                <a:cs typeface="Consolas"/>
              </a:defRPr>
            </a:pPr>
            <a:r>
              <a:rPr sz="1200" b="1">
                <a:solidFill>
                  <a:srgbClr val="8B95A7"/>
                </a:solidFill>
                <a:latin typeface="Consolas"/>
                <a:ea typeface="Consolas"/>
                <a:cs typeface="Consolas"/>
              </a:rPr>
              <a:t>01</a:t>
            </a:r>
          </a:p>
        </p:txBody>
      </p:sp>
      <p:sp>
        <p:nvSpPr>
          <p:cNvPr id="3" name="s1-title">
            <a:extLst xmlns:a="http://schemas.openxmlformats.org/drawingml/2006/main">
              <a:ext uri="{FF2B5EF4-FFF2-40B4-BE49-F238E27FC236}">
                <a16:creationId xmlns:a16="http://schemas.microsoft.com/office/drawing/2014/main" id="{B70DAB99-721B-436E-BF2A-BD3711A241A5}"/>
              </a:ext>
            </a:extLst>
          </p:cNvPr>
          <p:cNvSpPr>
            <a:spLocks xmlns:a="http://schemas.openxmlformats.org/drawingml/2006/main" noGrp="1"/>
          </p:cNvSpPr>
          <p:nvPr/>
        </p:nvSpPr>
        <p:spPr>
          <a:xfrm xmlns:a="http://schemas.openxmlformats.org/drawingml/2006/main">
            <a:off x="609600" y="914400"/>
            <a:ext cx="6858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81"/>
          </a:bodyPr>
          <a:lstStyle xmlns:a="http://schemas.openxmlformats.org/drawingml/2006/main"/>
          <a:p xmlns:a="http://schemas.openxmlformats.org/drawingml/2006/main">
            <a:pPr algn="l">
              <a:lnSpc>
                <a:spcPct val="90000"/>
              </a:lnSpc>
              <a:buNone/>
              <a:defRPr sz="4650" b="1">
                <a:solidFill>
                  <a:srgbClr val="F7FAFC"/>
                </a:solidFill>
                <a:latin typeface="Aptos Display"/>
                <a:ea typeface="Aptos Display"/>
                <a:cs typeface="Aptos Display"/>
              </a:defRPr>
            </a:pPr>
            <a:r>
              <a:rPr sz="4650" b="1">
                <a:solidFill>
                  <a:srgbClr val="F7FAFC"/>
                </a:solidFill>
                <a:latin typeface="Aptos Display"/>
                <a:ea typeface="Aptos Display"/>
                <a:cs typeface="Aptos Display"/>
              </a:rPr>
              <a:t>THE WORKFLOW REPEATS.</a:t>
            </a:r>
          </a:p>
          <a:p xmlns:a="http://schemas.openxmlformats.org/drawingml/2006/main">
            <a:pPr algn="l">
              <a:lnSpc>
                <a:spcPct val="90000"/>
              </a:lnSpc>
              <a:buNone/>
              <a:defRPr sz="4650" b="1">
                <a:solidFill>
                  <a:srgbClr val="F7FAFC"/>
                </a:solidFill>
                <a:latin typeface="Aptos Display"/>
                <a:ea typeface="Aptos Display"/>
                <a:cs typeface="Aptos Display"/>
              </a:defRPr>
            </a:pPr>
            <a:r>
              <a:rPr sz="4650" b="1">
                <a:solidFill>
                  <a:srgbClr val="F7FAFC"/>
                </a:solidFill>
                <a:latin typeface="Aptos Display"/>
                <a:ea typeface="Aptos Display"/>
                <a:cs typeface="Aptos Display"/>
              </a:rPr>
              <a:t>THE COST RESETS.</a:t>
            </a:r>
          </a:p>
        </p:txBody>
      </p:sp>
      <p:sp>
        <p:nvSpPr>
          <p:cNvPr id="4" name="s1-sub">
            <a:extLst xmlns:a="http://schemas.openxmlformats.org/drawingml/2006/main">
              <a:ext uri="{FF2B5EF4-FFF2-40B4-BE49-F238E27FC236}">
                <a16:creationId xmlns:a16="http://schemas.microsoft.com/office/drawing/2014/main" id="{D292DA21-5144-4B29-9836-FC9616990985}"/>
              </a:ext>
            </a:extLst>
          </p:cNvPr>
          <p:cNvSpPr>
            <a:spLocks xmlns:a="http://schemas.openxmlformats.org/drawingml/2006/main" noGrp="1"/>
          </p:cNvSpPr>
          <p:nvPr/>
        </p:nvSpPr>
        <p:spPr>
          <a:xfrm xmlns:a="http://schemas.openxmlformats.org/drawingml/2006/main">
            <a:off x="647700" y="2876550"/>
            <a:ext cx="619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a:solidFill>
                  <a:srgbClr val="8B95A7"/>
                </a:solidFill>
                <a:latin typeface="Aptos"/>
                <a:ea typeface="Aptos"/>
                <a:cs typeface="Aptos"/>
              </a:defRPr>
            </a:pPr>
            <a:r>
              <a:rPr sz="2025" b="0">
                <a:solidFill>
                  <a:srgbClr val="8B95A7"/>
                </a:solidFill>
                <a:latin typeface="Aptos"/>
                <a:ea typeface="Aptos"/>
                <a:cs typeface="Aptos"/>
              </a:rPr>
              <a:t>Companies pay agents to rediscover procedures they already own.</a:t>
            </a:r>
          </a:p>
        </p:txBody>
      </p:sp>
      <p:sp>
        <p:nvSpPr>
          <p:cNvPr id="5" name="s1-run1">
            <a:extLst xmlns:a="http://schemas.openxmlformats.org/drawingml/2006/main">
              <a:ext uri="{FF2B5EF4-FFF2-40B4-BE49-F238E27FC236}">
                <a16:creationId xmlns:a16="http://schemas.microsoft.com/office/drawing/2014/main" id="{EA53404C-4A78-4F19-A0D9-105C40031E22}"/>
              </a:ext>
            </a:extLst>
          </p:cNvPr>
          <p:cNvSpPr>
            <a:spLocks xmlns:a="http://schemas.openxmlformats.org/drawingml/2006/main" noGrp="1"/>
          </p:cNvSpPr>
          <p:nvPr/>
        </p:nvSpPr>
        <p:spPr>
          <a:xfrm xmlns:a="http://schemas.openxmlformats.org/drawingml/2006/main">
            <a:off x="7905750" y="1047750"/>
            <a:ext cx="3676650" cy="1409700"/>
          </a:xfrm>
          <a:prstGeom xmlns:a="http://schemas.openxmlformats.org/drawingml/2006/main" prst="roundRect">
            <a:avLst>
              <a:gd name="adj" fmla="val 13514"/>
            </a:avLst>
          </a:prstGeom>
          <a:solidFill xmlns:a="http://schemas.openxmlformats.org/drawingml/2006/main">
            <a:srgbClr val="0E1520"/>
          </a:solidFill>
          <a:ln xmlns:a="http://schemas.openxmlformats.org/drawingml/2006/main" w="9525">
            <a:solidFill>
              <a:srgbClr val="4B586B"/>
            </a:solidFill>
            <a:prstDash val="solid"/>
          </a:ln>
        </p:spPr>
      </p:sp>
      <p:sp>
        <p:nvSpPr>
          <p:cNvPr id="6" name="s1-run1-label">
            <a:extLst xmlns:a="http://schemas.openxmlformats.org/drawingml/2006/main">
              <a:ext uri="{FF2B5EF4-FFF2-40B4-BE49-F238E27FC236}">
                <a16:creationId xmlns:a16="http://schemas.microsoft.com/office/drawing/2014/main" id="{69B9480C-2913-4C8D-8602-7700974F6D9B}"/>
              </a:ext>
            </a:extLst>
          </p:cNvPr>
          <p:cNvSpPr>
            <a:spLocks xmlns:a="http://schemas.openxmlformats.org/drawingml/2006/main" noGrp="1"/>
          </p:cNvSpPr>
          <p:nvPr/>
        </p:nvSpPr>
        <p:spPr>
          <a:xfrm xmlns:a="http://schemas.openxmlformats.org/drawingml/2006/main">
            <a:off x="8172450" y="1276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8B95A7"/>
                </a:solidFill>
                <a:latin typeface="Consolas"/>
                <a:ea typeface="Consolas"/>
                <a:cs typeface="Consolas"/>
              </a:defRPr>
            </a:pPr>
            <a:r>
              <a:rPr sz="1200" b="1">
                <a:solidFill>
                  <a:srgbClr val="8B95A7"/>
                </a:solidFill>
                <a:latin typeface="Consolas"/>
                <a:ea typeface="Consolas"/>
                <a:cs typeface="Consolas"/>
              </a:rPr>
              <a:t>RUN 01</a:t>
            </a:r>
          </a:p>
        </p:txBody>
      </p:sp>
      <p:sp>
        <p:nvSpPr>
          <p:cNvPr id="7" name="s1-run1-state">
            <a:extLst xmlns:a="http://schemas.openxmlformats.org/drawingml/2006/main">
              <a:ext uri="{FF2B5EF4-FFF2-40B4-BE49-F238E27FC236}">
                <a16:creationId xmlns:a16="http://schemas.microsoft.com/office/drawing/2014/main" id="{3DA2817A-F97F-4880-8D56-2D385808030B}"/>
              </a:ext>
            </a:extLst>
          </p:cNvPr>
          <p:cNvSpPr>
            <a:spLocks xmlns:a="http://schemas.openxmlformats.org/drawingml/2006/main" noGrp="1"/>
          </p:cNvSpPr>
          <p:nvPr/>
        </p:nvSpPr>
        <p:spPr>
          <a:xfrm xmlns:a="http://schemas.openxmlformats.org/drawingml/2006/main">
            <a:off x="8172450" y="1638300"/>
            <a:ext cx="2047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62"/>
          </a:bodyPr>
          <a:lstStyle xmlns:a="http://schemas.openxmlformats.org/drawingml/2006/main"/>
          <a:p xmlns:a="http://schemas.openxmlformats.org/drawingml/2006/main">
            <a:pPr algn="l">
              <a:lnSpc>
                <a:spcPct val="100000"/>
              </a:lnSpc>
              <a:buNone/>
              <a:defRPr sz="2100" b="1">
                <a:solidFill>
                  <a:srgbClr val="F7FAFC"/>
                </a:solidFill>
                <a:latin typeface="Aptos Display"/>
                <a:ea typeface="Aptos Display"/>
                <a:cs typeface="Aptos Display"/>
              </a:defRPr>
            </a:pPr>
            <a:r>
              <a:rPr sz="2100" b="1">
                <a:solidFill>
                  <a:srgbClr val="F7FAFC"/>
                </a:solidFill>
                <a:latin typeface="Aptos Display"/>
                <a:ea typeface="Aptos Display"/>
                <a:cs typeface="Aptos Display"/>
              </a:rPr>
              <a:t>30 TICKETS</a:t>
            </a:r>
          </a:p>
          <a:p xmlns:a="http://schemas.openxmlformats.org/drawingml/2006/main">
            <a:pPr algn="l">
              <a:lnSpc>
                <a:spcPct val="100000"/>
              </a:lnSpc>
              <a:buNone/>
              <a:defRPr sz="2100" b="1">
                <a:solidFill>
                  <a:srgbClr val="F7FAFC"/>
                </a:solidFill>
                <a:latin typeface="Aptos Display"/>
                <a:ea typeface="Aptos Display"/>
                <a:cs typeface="Aptos Display"/>
              </a:defRPr>
            </a:pPr>
            <a:r>
              <a:rPr sz="2100" b="1">
                <a:solidFill>
                  <a:srgbClr val="F7FAFC"/>
                </a:solidFill>
                <a:latin typeface="Aptos Display"/>
                <a:ea typeface="Aptos Display"/>
                <a:cs typeface="Aptos Display"/>
              </a:rPr>
              <a:t>COMPLETE</a:t>
            </a:r>
          </a:p>
        </p:txBody>
      </p:sp>
      <p:sp>
        <p:nvSpPr>
          <p:cNvPr id="8" name="s1-run1-check">
            <a:extLst xmlns:a="http://schemas.openxmlformats.org/drawingml/2006/main">
              <a:ext uri="{FF2B5EF4-FFF2-40B4-BE49-F238E27FC236}">
                <a16:creationId xmlns:a16="http://schemas.microsoft.com/office/drawing/2014/main" id="{84AE18BD-A220-440C-B42D-33DA93B944DB}"/>
              </a:ext>
            </a:extLst>
          </p:cNvPr>
          <p:cNvSpPr>
            <a:spLocks xmlns:a="http://schemas.openxmlformats.org/drawingml/2006/main" noGrp="1"/>
          </p:cNvSpPr>
          <p:nvPr/>
        </p:nvSpPr>
        <p:spPr>
          <a:xfrm xmlns:a="http://schemas.openxmlformats.org/drawingml/2006/main">
            <a:off x="10725150" y="1571625"/>
            <a:ext cx="523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450" b="1">
                <a:solidFill>
                  <a:srgbClr val="29B5E8"/>
                </a:solidFill>
                <a:latin typeface="Aptos"/>
                <a:ea typeface="Aptos"/>
                <a:cs typeface="Aptos"/>
              </a:defRPr>
            </a:pPr>
            <a:r>
              <a:rPr sz="3450" b="1">
                <a:solidFill>
                  <a:srgbClr val="29B5E8"/>
                </a:solidFill>
                <a:latin typeface="Aptos"/>
                <a:ea typeface="Aptos"/>
                <a:cs typeface="Aptos"/>
              </a:rPr>
              <a:t>✓</a:t>
            </a:r>
          </a:p>
        </p:txBody>
      </p:sp>
      <p:sp>
        <p:nvSpPr>
          <p:cNvPr id="9" name="s1-run2">
            <a:extLst xmlns:a="http://schemas.openxmlformats.org/drawingml/2006/main">
              <a:ext uri="{FF2B5EF4-FFF2-40B4-BE49-F238E27FC236}">
                <a16:creationId xmlns:a16="http://schemas.microsoft.com/office/drawing/2014/main" id="{BB3112FD-B099-4569-AFA9-C9D7B3BE8597}"/>
              </a:ext>
            </a:extLst>
          </p:cNvPr>
          <p:cNvSpPr>
            <a:spLocks xmlns:a="http://schemas.openxmlformats.org/drawingml/2006/main" noGrp="1"/>
          </p:cNvSpPr>
          <p:nvPr/>
        </p:nvSpPr>
        <p:spPr>
          <a:xfrm xmlns:a="http://schemas.openxmlformats.org/drawingml/2006/main">
            <a:off x="7905750" y="2724150"/>
            <a:ext cx="3676650" cy="1409700"/>
          </a:xfrm>
          <a:prstGeom xmlns:a="http://schemas.openxmlformats.org/drawingml/2006/main" prst="roundRect">
            <a:avLst>
              <a:gd name="adj" fmla="val 13514"/>
            </a:avLst>
          </a:prstGeom>
          <a:solidFill xmlns:a="http://schemas.openxmlformats.org/drawingml/2006/main">
            <a:srgbClr val="111C29"/>
          </a:solidFill>
          <a:ln xmlns:a="http://schemas.openxmlformats.org/drawingml/2006/main" w="19050">
            <a:solidFill>
              <a:srgbClr val="FF6B6B"/>
            </a:solidFill>
            <a:prstDash val="solid"/>
          </a:ln>
        </p:spPr>
      </p:sp>
      <p:sp>
        <p:nvSpPr>
          <p:cNvPr id="10" name="s1-run2-label">
            <a:extLst xmlns:a="http://schemas.openxmlformats.org/drawingml/2006/main">
              <a:ext uri="{FF2B5EF4-FFF2-40B4-BE49-F238E27FC236}">
                <a16:creationId xmlns:a16="http://schemas.microsoft.com/office/drawing/2014/main" id="{4F3B3606-4683-4E7E-BD98-F70D1528861F}"/>
              </a:ext>
            </a:extLst>
          </p:cNvPr>
          <p:cNvSpPr>
            <a:spLocks xmlns:a="http://schemas.openxmlformats.org/drawingml/2006/main" noGrp="1"/>
          </p:cNvSpPr>
          <p:nvPr/>
        </p:nvSpPr>
        <p:spPr>
          <a:xfrm xmlns:a="http://schemas.openxmlformats.org/drawingml/2006/main">
            <a:off x="8172450" y="2952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6B6B"/>
                </a:solidFill>
                <a:latin typeface="Consolas"/>
                <a:ea typeface="Consolas"/>
                <a:cs typeface="Consolas"/>
              </a:defRPr>
            </a:pPr>
            <a:r>
              <a:rPr sz="1200" b="1">
                <a:solidFill>
                  <a:srgbClr val="FF6B6B"/>
                </a:solidFill>
                <a:latin typeface="Consolas"/>
                <a:ea typeface="Consolas"/>
                <a:cs typeface="Consolas"/>
              </a:rPr>
              <a:t>RUN 02 · SAME TASK</a:t>
            </a:r>
          </a:p>
        </p:txBody>
      </p:sp>
      <p:sp>
        <p:nvSpPr>
          <p:cNvPr id="11" name="s1-run2-state">
            <a:extLst xmlns:a="http://schemas.openxmlformats.org/drawingml/2006/main">
              <a:ext uri="{FF2B5EF4-FFF2-40B4-BE49-F238E27FC236}">
                <a16:creationId xmlns:a16="http://schemas.microsoft.com/office/drawing/2014/main" id="{FFCE5030-4F60-422B-AAFF-5A9A13B87DD0}"/>
              </a:ext>
            </a:extLst>
          </p:cNvPr>
          <p:cNvSpPr>
            <a:spLocks xmlns:a="http://schemas.openxmlformats.org/drawingml/2006/main" noGrp="1"/>
          </p:cNvSpPr>
          <p:nvPr/>
        </p:nvSpPr>
        <p:spPr>
          <a:xfrm xmlns:a="http://schemas.openxmlformats.org/drawingml/2006/main">
            <a:off x="8172450" y="33147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FULL AGENT LOOP</a:t>
            </a:r>
          </a:p>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STARTS AGAIN</a:t>
            </a:r>
          </a:p>
        </p:txBody>
      </p:sp>
      <p:sp>
        <p:nvSpPr>
          <p:cNvPr id="12" name="s1-run2-arrow">
            <a:extLst xmlns:a="http://schemas.openxmlformats.org/drawingml/2006/main">
              <a:ext uri="{FF2B5EF4-FFF2-40B4-BE49-F238E27FC236}">
                <a16:creationId xmlns:a16="http://schemas.microsoft.com/office/drawing/2014/main" id="{6F7D93D2-8EAF-4E70-A52E-6BDFB0CB71B0}"/>
              </a:ext>
            </a:extLst>
          </p:cNvPr>
          <p:cNvSpPr>
            <a:spLocks xmlns:a="http://schemas.openxmlformats.org/drawingml/2006/main" noGrp="1"/>
          </p:cNvSpPr>
          <p:nvPr/>
        </p:nvSpPr>
        <p:spPr>
          <a:xfrm xmlns:a="http://schemas.openxmlformats.org/drawingml/2006/main">
            <a:off x="10706100" y="32575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600" b="1">
                <a:solidFill>
                  <a:srgbClr val="FF6B6B"/>
                </a:solidFill>
                <a:latin typeface="Aptos"/>
                <a:ea typeface="Aptos"/>
                <a:cs typeface="Aptos"/>
              </a:defRPr>
            </a:pPr>
            <a:r>
              <a:rPr sz="3600" b="1">
                <a:solidFill>
                  <a:srgbClr val="FF6B6B"/>
                </a:solidFill>
                <a:latin typeface="Aptos"/>
                <a:ea typeface="Aptos"/>
                <a:cs typeface="Aptos"/>
              </a:rPr>
              <a:t>↻</a:t>
            </a:r>
          </a:p>
        </p:txBody>
      </p:sp>
      <p:sp>
        <p:nvSpPr>
          <p:cNvPr id="13" name="s1-divider">
            <a:extLst xmlns:a="http://schemas.openxmlformats.org/drawingml/2006/main">
              <a:ext uri="{FF2B5EF4-FFF2-40B4-BE49-F238E27FC236}">
                <a16:creationId xmlns:a16="http://schemas.microsoft.com/office/drawing/2014/main" id="{3FF94A39-76D1-41E7-B2D5-72A999F32B76}"/>
              </a:ext>
            </a:extLst>
          </p:cNvPr>
          <p:cNvSpPr>
            <a:spLocks xmlns:a="http://schemas.openxmlformats.org/drawingml/2006/main" noGrp="1"/>
          </p:cNvSpPr>
          <p:nvPr/>
        </p:nvSpPr>
        <p:spPr>
          <a:xfrm xmlns:a="http://schemas.openxmlformats.org/drawingml/2006/main">
            <a:off x="609600" y="4438650"/>
            <a:ext cx="10972800" cy="0"/>
          </a:xfrm>
          <a:prstGeom xmlns:a="http://schemas.openxmlformats.org/drawingml/2006/main" prst="line">
            <a:avLst/>
          </a:prstGeom>
          <a:noFill xmlns:a="http://schemas.openxmlformats.org/drawingml/2006/main"/>
          <a:ln xmlns:a="http://schemas.openxmlformats.org/drawingml/2006/main" w="9525">
            <a:solidFill>
              <a:srgbClr val="4B586B"/>
            </a:solidFill>
            <a:prstDash val="solid"/>
          </a:ln>
        </p:spPr>
      </p:sp>
      <p:sp>
        <p:nvSpPr>
          <p:cNvPr id="14" name="s1-brand">
            <a:extLst xmlns:a="http://schemas.openxmlformats.org/drawingml/2006/main">
              <a:ext uri="{FF2B5EF4-FFF2-40B4-BE49-F238E27FC236}">
                <a16:creationId xmlns:a16="http://schemas.microsoft.com/office/drawing/2014/main" id="{D4D9A4B7-FD14-46E1-BC72-134910569340}"/>
              </a:ext>
            </a:extLst>
          </p:cNvPr>
          <p:cNvSpPr>
            <a:spLocks xmlns:a="http://schemas.openxmlformats.org/drawingml/2006/main" noGrp="1"/>
          </p:cNvSpPr>
          <p:nvPr/>
        </p:nvSpPr>
        <p:spPr>
          <a:xfrm xmlns:a="http://schemas.openxmlformats.org/drawingml/2006/main">
            <a:off x="609600" y="4762500"/>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54"/>
          </a:bodyPr>
          <a:lstStyle xmlns:a="http://schemas.openxmlformats.org/drawingml/2006/main"/>
          <a:p xmlns:a="http://schemas.openxmlformats.org/drawingml/2006/main">
            <a:pPr algn="l">
              <a:lnSpc>
                <a:spcPct val="100000"/>
              </a:lnSpc>
              <a:buNone/>
              <a:defRPr sz="4800" b="1">
                <a:solidFill>
                  <a:srgbClr val="B8FF5A"/>
                </a:solidFill>
                <a:latin typeface="Aptos Display"/>
                <a:ea typeface="Aptos Display"/>
                <a:cs typeface="Aptos Display"/>
              </a:defRPr>
            </a:pPr>
            <a:r>
              <a:rPr sz="4800" b="1">
                <a:solidFill>
                  <a:srgbClr val="B8FF5A"/>
                </a:solidFill>
                <a:latin typeface="Aptos Display"/>
                <a:ea typeface="Aptos Display"/>
                <a:cs typeface="Aptos Display"/>
              </a:rPr>
              <a:t>AMORTIZE</a:t>
            </a:r>
          </a:p>
        </p:txBody>
      </p:sp>
      <p:sp>
        <p:nvSpPr>
          <p:cNvPr id="15" name="s1-tag">
            <a:extLst xmlns:a="http://schemas.openxmlformats.org/drawingml/2006/main">
              <a:ext uri="{FF2B5EF4-FFF2-40B4-BE49-F238E27FC236}">
                <a16:creationId xmlns:a16="http://schemas.microsoft.com/office/drawing/2014/main" id="{3B3D4A61-BC5C-40B7-A93D-0100E0B7453D}"/>
              </a:ext>
            </a:extLst>
          </p:cNvPr>
          <p:cNvSpPr>
            <a:spLocks xmlns:a="http://schemas.openxmlformats.org/drawingml/2006/main" noGrp="1"/>
          </p:cNvSpPr>
          <p:nvPr/>
        </p:nvSpPr>
        <p:spPr>
          <a:xfrm xmlns:a="http://schemas.openxmlformats.org/drawingml/2006/main">
            <a:off x="647700" y="555307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F7FAFC"/>
                </a:solidFill>
                <a:latin typeface="Aptos"/>
                <a:ea typeface="Aptos"/>
                <a:cs typeface="Aptos"/>
              </a:defRPr>
            </a:pPr>
            <a:r>
              <a:rPr sz="1875" b="0">
                <a:solidFill>
                  <a:srgbClr val="F7FAFC"/>
                </a:solidFill>
                <a:latin typeface="Aptos"/>
                <a:ea typeface="Aptos"/>
                <a:cs typeface="Aptos"/>
              </a:rPr>
              <a:t>The cost-control plane for enterprise AI agents</a:t>
            </a:r>
          </a:p>
        </p:txBody>
      </p:sp>
      <p:sp>
        <p:nvSpPr>
          <p:cNvPr id="16" name="s1-promise">
            <a:extLst xmlns:a="http://schemas.openxmlformats.org/drawingml/2006/main">
              <a:ext uri="{FF2B5EF4-FFF2-40B4-BE49-F238E27FC236}">
                <a16:creationId xmlns:a16="http://schemas.microsoft.com/office/drawing/2014/main" id="{D92A7DB6-1D90-4906-B221-3F5970922477}"/>
              </a:ext>
            </a:extLst>
          </p:cNvPr>
          <p:cNvSpPr>
            <a:spLocks xmlns:a="http://schemas.openxmlformats.org/drawingml/2006/main" noGrp="1"/>
          </p:cNvSpPr>
          <p:nvPr/>
        </p:nvSpPr>
        <p:spPr>
          <a:xfrm xmlns:a="http://schemas.openxmlformats.org/drawingml/2006/main">
            <a:off x="7905750" y="5048250"/>
            <a:ext cx="3676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a:solidFill>
                  <a:srgbClr val="29B5E8"/>
                </a:solidFill>
                <a:latin typeface="Consolas"/>
                <a:ea typeface="Consolas"/>
                <a:cs typeface="Consolas"/>
              </a:defRPr>
            </a:pPr>
            <a:r>
              <a:rPr sz="1575" b="1">
                <a:solidFill>
                  <a:srgbClr val="29B5E8"/>
                </a:solidFill>
                <a:latin typeface="Consolas"/>
                <a:ea typeface="Consolas"/>
                <a:cs typeface="Consolas"/>
              </a:rPr>
              <a:t>REPEATED WORK SHOULD GET CHEAPER WITH EXPERIENCE.</a:t>
            </a:r>
          </a:p>
        </p:txBody>
      </p:sp>
      <p:sp>
        <p:nvSpPr>
          <p:cNvPr id="17" name="footer-1">
            <a:extLst xmlns:a="http://schemas.openxmlformats.org/drawingml/2006/main">
              <a:ext uri="{FF2B5EF4-FFF2-40B4-BE49-F238E27FC236}">
                <a16:creationId xmlns:a16="http://schemas.microsoft.com/office/drawing/2014/main" id="{8577BBE5-4E20-4A20-8384-EA1E941ADABE}"/>
              </a:ext>
            </a:extLst>
          </p:cNvPr>
          <p:cNvSpPr>
            <a:spLocks xmlns:a="http://schemas.openxmlformats.org/drawingml/2006/main" noGrp="1"/>
          </p:cNvSpPr>
          <p:nvPr/>
        </p:nvSpPr>
        <p:spPr>
          <a:xfrm xmlns:a="http://schemas.openxmlformats.org/drawingml/2006/main">
            <a:off x="609600" y="64008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B95A7"/>
                </a:solidFill>
                <a:latin typeface="Consolas"/>
                <a:ea typeface="Consolas"/>
                <a:cs typeface="Consolas"/>
              </a:defRPr>
            </a:pPr>
            <a:r>
              <a:rPr sz="1050" b="0">
                <a:solidFill>
                  <a:srgbClr val="8B95A7"/>
                </a:solidFill>
                <a:latin typeface="Consolas"/>
                <a:ea typeface="Consolas"/>
                <a:cs typeface="Consolas"/>
              </a:rPr>
              <a:t>AMORTIZE · PRODUCT LAUNCH</a:t>
            </a:r>
          </a:p>
        </p:txBody>
      </p:sp>
    </p:spTree>
    <p:extLst>
      <p:ext uri="{BB962C8B-B14F-4D97-AF65-F5344CB8AC3E}">
        <p14:creationId xmlns:p14="http://schemas.microsoft.com/office/powerpoint/2010/main" val="1412233546"/>
      </p:ext>
    </p:extLst>
  </p:cSld>
</p:sld>
</file>

<file path=ppt/slides/slide2.xml><?xml version="1.0" encoding="utf-8"?>
<p:sld xmlns:p="http://schemas.openxmlformats.org/presentationml/2006/main">
  <p:cSld>
    <p:bg>
      <p:bgPr>
        <a:solidFill xmlns:a="http://schemas.openxmlformats.org/drawingml/2006/main">
          <a:srgbClr val="070A0F"/>
        </a:solidFill>
      </p:bgPr>
    </p:bg>
    <p:spTree>
      <p:nvGrpSpPr>
        <p:cNvPr id="1" name=""/>
        <p:cNvGrpSpPr/>
        <p:nvPr/>
      </p:nvGrpSpPr>
      <p:grpSpPr>
        <a:xfrm xmlns:a="http://schemas.openxmlformats.org/drawingml/2006/main"/>
      </p:grpSpPr>
      <p:sp>
        <p:nvSpPr>
          <p:cNvPr id="21" name="eyebrow-2">
            <a:extLst xmlns:a="http://schemas.openxmlformats.org/drawingml/2006/main">
              <a:ext uri="{FF2B5EF4-FFF2-40B4-BE49-F238E27FC236}">
                <a16:creationId xmlns:a16="http://schemas.microsoft.com/office/drawing/2014/main" id="{6F03F490-09DB-472F-B12A-01651EAA6665}"/>
              </a:ext>
            </a:extLst>
          </p:cNvPr>
          <p:cNvSpPr>
            <a:spLocks xmlns:a="http://schemas.openxmlformats.org/drawingml/2006/main" noGrp="1"/>
          </p:cNvSpPr>
          <p:nvPr/>
        </p:nvSpPr>
        <p:spPr>
          <a:xfrm xmlns:a="http://schemas.openxmlformats.org/drawingml/2006/main">
            <a:off x="609600" y="3619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9B5E8"/>
                </a:solidFill>
                <a:latin typeface="Consolas"/>
                <a:ea typeface="Consolas"/>
                <a:cs typeface="Consolas"/>
              </a:defRPr>
            </a:pPr>
            <a:r>
              <a:rPr sz="1200" b="1">
                <a:solidFill>
                  <a:srgbClr val="29B5E8"/>
                </a:solidFill>
                <a:latin typeface="Consolas"/>
                <a:ea typeface="Consolas"/>
                <a:cs typeface="Consolas"/>
              </a:rPr>
              <a:t>THE ENTERPRISE PROBLEM</a:t>
            </a:r>
          </a:p>
        </p:txBody>
      </p:sp>
      <p:sp>
        <p:nvSpPr>
          <p:cNvPr id="2" name="number-2">
            <a:extLst xmlns:a="http://schemas.openxmlformats.org/drawingml/2006/main">
              <a:ext uri="{FF2B5EF4-FFF2-40B4-BE49-F238E27FC236}">
                <a16:creationId xmlns:a16="http://schemas.microsoft.com/office/drawing/2014/main" id="{75DD6D27-C7E7-4151-93B7-63F2644948F6}"/>
              </a:ext>
            </a:extLst>
          </p:cNvPr>
          <p:cNvSpPr>
            <a:spLocks xmlns:a="http://schemas.openxmlformats.org/drawingml/2006/main" noGrp="1"/>
          </p:cNvSpPr>
          <p:nvPr/>
        </p:nvSpPr>
        <p:spPr>
          <a:xfrm xmlns:a="http://schemas.openxmlformats.org/drawingml/2006/main">
            <a:off x="11087100" y="3619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8B95A7"/>
                </a:solidFill>
                <a:latin typeface="Consolas"/>
                <a:ea typeface="Consolas"/>
                <a:cs typeface="Consolas"/>
              </a:defRPr>
            </a:pPr>
            <a:r>
              <a:rPr sz="1200" b="1">
                <a:solidFill>
                  <a:srgbClr val="8B95A7"/>
                </a:solidFill>
                <a:latin typeface="Consolas"/>
                <a:ea typeface="Consolas"/>
                <a:cs typeface="Consolas"/>
              </a:rPr>
              <a:t>02</a:t>
            </a:r>
          </a:p>
        </p:txBody>
      </p:sp>
      <p:sp>
        <p:nvSpPr>
          <p:cNvPr id="3" name="s2-title">
            <a:extLst xmlns:a="http://schemas.openxmlformats.org/drawingml/2006/main">
              <a:ext uri="{FF2B5EF4-FFF2-40B4-BE49-F238E27FC236}">
                <a16:creationId xmlns:a16="http://schemas.microsoft.com/office/drawing/2014/main" id="{8F1EB43B-64DC-4E1B-B545-D0CA0051BBDA}"/>
              </a:ext>
            </a:extLst>
          </p:cNvPr>
          <p:cNvSpPr>
            <a:spLocks xmlns:a="http://schemas.openxmlformats.org/drawingml/2006/main" noGrp="1"/>
          </p:cNvSpPr>
          <p:nvPr/>
        </p:nvSpPr>
        <p:spPr>
          <a:xfrm xmlns:a="http://schemas.openxmlformats.org/drawingml/2006/main">
            <a:off x="609600" y="857250"/>
            <a:ext cx="885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900" b="1">
                <a:solidFill>
                  <a:srgbClr val="F7FAFC"/>
                </a:solidFill>
                <a:latin typeface="Aptos Display"/>
                <a:ea typeface="Aptos Display"/>
                <a:cs typeface="Aptos Display"/>
              </a:defRPr>
            </a:pPr>
            <a:r>
              <a:rPr sz="3900" b="1">
                <a:solidFill>
                  <a:srgbClr val="F7FAFC"/>
                </a:solidFill>
                <a:latin typeface="Aptos Display"/>
                <a:ea typeface="Aptos Display"/>
                <a:cs typeface="Aptos Display"/>
              </a:rPr>
              <a:t>The company pays for reasoning</a:t>
            </a:r>
          </a:p>
          <a:p xmlns:a="http://schemas.openxmlformats.org/drawingml/2006/main">
            <a:pPr algn="l">
              <a:lnSpc>
                <a:spcPct val="100000"/>
              </a:lnSpc>
              <a:buNone/>
              <a:defRPr sz="3900" b="1">
                <a:solidFill>
                  <a:srgbClr val="F7FAFC"/>
                </a:solidFill>
                <a:latin typeface="Aptos Display"/>
                <a:ea typeface="Aptos Display"/>
                <a:cs typeface="Aptos Display"/>
              </a:defRPr>
            </a:pPr>
            <a:r>
              <a:rPr sz="3900" b="1">
                <a:solidFill>
                  <a:srgbClr val="F7FAFC"/>
                </a:solidFill>
                <a:latin typeface="Aptos Display"/>
                <a:ea typeface="Aptos Display"/>
                <a:cs typeface="Aptos Display"/>
              </a:rPr>
              <a:t>it already owns.</a:t>
            </a:r>
          </a:p>
        </p:txBody>
      </p:sp>
      <p:sp>
        <p:nvSpPr>
          <p:cNvPr id="4" name="s2-spine">
            <a:extLst xmlns:a="http://schemas.openxmlformats.org/drawingml/2006/main">
              <a:ext uri="{FF2B5EF4-FFF2-40B4-BE49-F238E27FC236}">
                <a16:creationId xmlns:a16="http://schemas.microsoft.com/office/drawing/2014/main" id="{73EF3FA2-2662-4E41-BE89-EF6B58184097}"/>
              </a:ext>
            </a:extLst>
          </p:cNvPr>
          <p:cNvSpPr>
            <a:spLocks xmlns:a="http://schemas.openxmlformats.org/drawingml/2006/main" noGrp="1"/>
          </p:cNvSpPr>
          <p:nvPr/>
        </p:nvSpPr>
        <p:spPr>
          <a:xfrm xmlns:a="http://schemas.openxmlformats.org/drawingml/2006/main">
            <a:off x="781050" y="2762250"/>
            <a:ext cx="10477500" cy="0"/>
          </a:xfrm>
          <a:prstGeom xmlns:a="http://schemas.openxmlformats.org/drawingml/2006/main" prst="line">
            <a:avLst/>
          </a:prstGeom>
          <a:noFill xmlns:a="http://schemas.openxmlformats.org/drawingml/2006/main"/>
          <a:ln xmlns:a="http://schemas.openxmlformats.org/drawingml/2006/main" w="28575">
            <a:solidFill>
              <a:srgbClr val="4B586B"/>
            </a:solidFill>
            <a:prstDash val="solid"/>
          </a:ln>
        </p:spPr>
      </p:sp>
      <p:sp>
        <p:nvSpPr>
          <p:cNvPr id="5" name="s2-dot-0">
            <a:extLst xmlns:a="http://schemas.openxmlformats.org/drawingml/2006/main">
              <a:ext uri="{FF2B5EF4-FFF2-40B4-BE49-F238E27FC236}">
                <a16:creationId xmlns:a16="http://schemas.microsoft.com/office/drawing/2014/main" id="{074CF331-C0AD-4766-99B8-5F8CEDB82A27}"/>
              </a:ext>
            </a:extLst>
          </p:cNvPr>
          <p:cNvSpPr>
            <a:spLocks xmlns:a="http://schemas.openxmlformats.org/drawingml/2006/main" noGrp="1"/>
          </p:cNvSpPr>
          <p:nvPr/>
        </p:nvSpPr>
        <p:spPr>
          <a:xfrm xmlns:a="http://schemas.openxmlformats.org/drawingml/2006/main">
            <a:off x="762000" y="2647950"/>
            <a:ext cx="228600" cy="228600"/>
          </a:xfrm>
          <a:prstGeom xmlns:a="http://schemas.openxmlformats.org/drawingml/2006/main" prst="roundRect">
            <a:avLst>
              <a:gd name="adj" fmla="val 50000"/>
            </a:avLst>
          </a:prstGeom>
          <a:solidFill xmlns:a="http://schemas.openxmlformats.org/drawingml/2006/main">
            <a:srgbClr val="29B5E8"/>
          </a:solidFill>
          <a:ln xmlns:a="http://schemas.openxmlformats.org/drawingml/2006/main" w="0">
            <a:noFill/>
            <a:prstDash val="solid"/>
          </a:ln>
        </p:spPr>
      </p:sp>
      <p:sp>
        <p:nvSpPr>
          <p:cNvPr id="6" name="s2-label-0">
            <a:extLst xmlns:a="http://schemas.openxmlformats.org/drawingml/2006/main">
              <a:ext uri="{FF2B5EF4-FFF2-40B4-BE49-F238E27FC236}">
                <a16:creationId xmlns:a16="http://schemas.microsoft.com/office/drawing/2014/main" id="{2BC3C65F-204B-4CF0-9FD2-D32E5E2A4A3A}"/>
              </a:ext>
            </a:extLst>
          </p:cNvPr>
          <p:cNvSpPr>
            <a:spLocks xmlns:a="http://schemas.openxmlformats.org/drawingml/2006/main" noGrp="1"/>
          </p:cNvSpPr>
          <p:nvPr/>
        </p:nvSpPr>
        <p:spPr>
          <a:xfrm xmlns:a="http://schemas.openxmlformats.org/drawingml/2006/main">
            <a:off x="762000" y="31432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9B5E8"/>
                </a:solidFill>
                <a:latin typeface="Consolas"/>
                <a:ea typeface="Consolas"/>
                <a:cs typeface="Consolas"/>
              </a:defRPr>
            </a:pPr>
            <a:r>
              <a:rPr sz="1350" b="1">
                <a:solidFill>
                  <a:srgbClr val="29B5E8"/>
                </a:solidFill>
                <a:latin typeface="Consolas"/>
                <a:ea typeface="Consolas"/>
                <a:cs typeface="Consolas"/>
              </a:rPr>
              <a:t>TOOL CONTEXT</a:t>
            </a:r>
          </a:p>
        </p:txBody>
      </p:sp>
      <p:sp>
        <p:nvSpPr>
          <p:cNvPr id="7" name="s2-body-0">
            <a:extLst xmlns:a="http://schemas.openxmlformats.org/drawingml/2006/main">
              <a:ext uri="{FF2B5EF4-FFF2-40B4-BE49-F238E27FC236}">
                <a16:creationId xmlns:a16="http://schemas.microsoft.com/office/drawing/2014/main" id="{F2918736-E3D2-4A04-AF32-55170620A81C}"/>
              </a:ext>
            </a:extLst>
          </p:cNvPr>
          <p:cNvSpPr>
            <a:spLocks xmlns:a="http://schemas.openxmlformats.org/drawingml/2006/main" noGrp="1"/>
          </p:cNvSpPr>
          <p:nvPr/>
        </p:nvSpPr>
        <p:spPr>
          <a:xfrm xmlns:a="http://schemas.openxmlformats.org/drawingml/2006/main">
            <a:off x="762000" y="358140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Every schema,</a:t>
            </a:r>
          </a:p>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every relevant turn</a:t>
            </a:r>
          </a:p>
        </p:txBody>
      </p:sp>
      <p:sp>
        <p:nvSpPr>
          <p:cNvPr id="8" name="s2-plus-0">
            <a:extLst xmlns:a="http://schemas.openxmlformats.org/drawingml/2006/main">
              <a:ext uri="{FF2B5EF4-FFF2-40B4-BE49-F238E27FC236}">
                <a16:creationId xmlns:a16="http://schemas.microsoft.com/office/drawing/2014/main" id="{92C6BDB0-DEFA-45E6-A994-79693A7595E8}"/>
              </a:ext>
            </a:extLst>
          </p:cNvPr>
          <p:cNvSpPr>
            <a:spLocks xmlns:a="http://schemas.openxmlformats.org/drawingml/2006/main" noGrp="1"/>
          </p:cNvSpPr>
          <p:nvPr/>
        </p:nvSpPr>
        <p:spPr>
          <a:xfrm xmlns:a="http://schemas.openxmlformats.org/drawingml/2006/main">
            <a:off x="3867150" y="356235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8B95A7"/>
                </a:solidFill>
                <a:latin typeface="Aptos"/>
                <a:ea typeface="Aptos"/>
                <a:cs typeface="Aptos"/>
              </a:defRPr>
            </a:pPr>
            <a:r>
              <a:rPr sz="2250" b="1">
                <a:solidFill>
                  <a:srgbClr val="8B95A7"/>
                </a:solidFill>
                <a:latin typeface="Aptos"/>
                <a:ea typeface="Aptos"/>
                <a:cs typeface="Aptos"/>
              </a:rPr>
              <a:t>+</a:t>
            </a:r>
          </a:p>
        </p:txBody>
      </p:sp>
      <p:sp>
        <p:nvSpPr>
          <p:cNvPr id="9" name="s2-dot-1">
            <a:extLst xmlns:a="http://schemas.openxmlformats.org/drawingml/2006/main">
              <a:ext uri="{FF2B5EF4-FFF2-40B4-BE49-F238E27FC236}">
                <a16:creationId xmlns:a16="http://schemas.microsoft.com/office/drawing/2014/main" id="{9A235404-84D4-41DD-BCE0-C8056E8F07C7}"/>
              </a:ext>
            </a:extLst>
          </p:cNvPr>
          <p:cNvSpPr>
            <a:spLocks xmlns:a="http://schemas.openxmlformats.org/drawingml/2006/main" noGrp="1"/>
          </p:cNvSpPr>
          <p:nvPr/>
        </p:nvSpPr>
        <p:spPr>
          <a:xfrm xmlns:a="http://schemas.openxmlformats.org/drawingml/2006/main">
            <a:off x="4343400" y="2647950"/>
            <a:ext cx="228600" cy="228600"/>
          </a:xfrm>
          <a:prstGeom xmlns:a="http://schemas.openxmlformats.org/drawingml/2006/main" prst="roundRect">
            <a:avLst>
              <a:gd name="adj" fmla="val 50000"/>
            </a:avLst>
          </a:prstGeom>
          <a:solidFill xmlns:a="http://schemas.openxmlformats.org/drawingml/2006/main">
            <a:srgbClr val="B8FF5A"/>
          </a:solidFill>
          <a:ln xmlns:a="http://schemas.openxmlformats.org/drawingml/2006/main" w="0">
            <a:noFill/>
            <a:prstDash val="solid"/>
          </a:ln>
        </p:spPr>
      </p:sp>
      <p:sp>
        <p:nvSpPr>
          <p:cNvPr id="10" name="s2-label-1">
            <a:extLst xmlns:a="http://schemas.openxmlformats.org/drawingml/2006/main">
              <a:ext uri="{FF2B5EF4-FFF2-40B4-BE49-F238E27FC236}">
                <a16:creationId xmlns:a16="http://schemas.microsoft.com/office/drawing/2014/main" id="{52A27798-3D94-4926-AF4A-D9A872C5E975}"/>
              </a:ext>
            </a:extLst>
          </p:cNvPr>
          <p:cNvSpPr>
            <a:spLocks xmlns:a="http://schemas.openxmlformats.org/drawingml/2006/main" noGrp="1"/>
          </p:cNvSpPr>
          <p:nvPr/>
        </p:nvSpPr>
        <p:spPr>
          <a:xfrm xmlns:a="http://schemas.openxmlformats.org/drawingml/2006/main">
            <a:off x="4343400" y="31432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B8FF5A"/>
                </a:solidFill>
                <a:latin typeface="Consolas"/>
                <a:ea typeface="Consolas"/>
                <a:cs typeface="Consolas"/>
              </a:defRPr>
            </a:pPr>
            <a:r>
              <a:rPr sz="1350" b="1">
                <a:solidFill>
                  <a:srgbClr val="B8FF5A"/>
                </a:solidFill>
                <a:latin typeface="Consolas"/>
                <a:ea typeface="Consolas"/>
                <a:cs typeface="Consolas"/>
              </a:rPr>
              <a:t>REPEATED REASONING</a:t>
            </a:r>
          </a:p>
        </p:txBody>
      </p:sp>
      <p:sp>
        <p:nvSpPr>
          <p:cNvPr id="11" name="s2-body-1">
            <a:extLst xmlns:a="http://schemas.openxmlformats.org/drawingml/2006/main">
              <a:ext uri="{FF2B5EF4-FFF2-40B4-BE49-F238E27FC236}">
                <a16:creationId xmlns:a16="http://schemas.microsoft.com/office/drawing/2014/main" id="{AA6492EF-5291-4347-B89B-7089CBED1871}"/>
              </a:ext>
            </a:extLst>
          </p:cNvPr>
          <p:cNvSpPr>
            <a:spLocks xmlns:a="http://schemas.openxmlformats.org/drawingml/2006/main" noGrp="1"/>
          </p:cNvSpPr>
          <p:nvPr/>
        </p:nvSpPr>
        <p:spPr>
          <a:xfrm xmlns:a="http://schemas.openxmlformats.org/drawingml/2006/main">
            <a:off x="4343400" y="358140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The solved workflow</a:t>
            </a:r>
          </a:p>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starts from zero</a:t>
            </a:r>
          </a:p>
        </p:txBody>
      </p:sp>
      <p:sp>
        <p:nvSpPr>
          <p:cNvPr id="12" name="s2-plus-1">
            <a:extLst xmlns:a="http://schemas.openxmlformats.org/drawingml/2006/main">
              <a:ext uri="{FF2B5EF4-FFF2-40B4-BE49-F238E27FC236}">
                <a16:creationId xmlns:a16="http://schemas.microsoft.com/office/drawing/2014/main" id="{8F9974F7-C7CA-4243-B781-3F2AAE866DDF}"/>
              </a:ext>
            </a:extLst>
          </p:cNvPr>
          <p:cNvSpPr>
            <a:spLocks xmlns:a="http://schemas.openxmlformats.org/drawingml/2006/main" noGrp="1"/>
          </p:cNvSpPr>
          <p:nvPr/>
        </p:nvSpPr>
        <p:spPr>
          <a:xfrm xmlns:a="http://schemas.openxmlformats.org/drawingml/2006/main">
            <a:off x="7448550" y="356235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8B95A7"/>
                </a:solidFill>
                <a:latin typeface="Aptos"/>
                <a:ea typeface="Aptos"/>
                <a:cs typeface="Aptos"/>
              </a:defRPr>
            </a:pPr>
            <a:r>
              <a:rPr sz="2250" b="1">
                <a:solidFill>
                  <a:srgbClr val="8B95A7"/>
                </a:solidFill>
                <a:latin typeface="Aptos"/>
                <a:ea typeface="Aptos"/>
                <a:cs typeface="Aptos"/>
              </a:rPr>
              <a:t>+</a:t>
            </a:r>
          </a:p>
        </p:txBody>
      </p:sp>
      <p:sp>
        <p:nvSpPr>
          <p:cNvPr id="13" name="s2-dot-2">
            <a:extLst xmlns:a="http://schemas.openxmlformats.org/drawingml/2006/main">
              <a:ext uri="{FF2B5EF4-FFF2-40B4-BE49-F238E27FC236}">
                <a16:creationId xmlns:a16="http://schemas.microsoft.com/office/drawing/2014/main" id="{47D3024C-2B00-4AE4-B3E3-31B997B780B6}"/>
              </a:ext>
            </a:extLst>
          </p:cNvPr>
          <p:cNvSpPr>
            <a:spLocks xmlns:a="http://schemas.openxmlformats.org/drawingml/2006/main" noGrp="1"/>
          </p:cNvSpPr>
          <p:nvPr/>
        </p:nvSpPr>
        <p:spPr>
          <a:xfrm xmlns:a="http://schemas.openxmlformats.org/drawingml/2006/main">
            <a:off x="7924800" y="2647950"/>
            <a:ext cx="228600" cy="228600"/>
          </a:xfrm>
          <a:prstGeom xmlns:a="http://schemas.openxmlformats.org/drawingml/2006/main" prst="roundRect">
            <a:avLst>
              <a:gd name="adj" fmla="val 50000"/>
            </a:avLst>
          </a:prstGeom>
          <a:solidFill xmlns:a="http://schemas.openxmlformats.org/drawingml/2006/main">
            <a:srgbClr val="FFB84D"/>
          </a:solidFill>
          <a:ln xmlns:a="http://schemas.openxmlformats.org/drawingml/2006/main" w="0">
            <a:noFill/>
            <a:prstDash val="solid"/>
          </a:ln>
        </p:spPr>
      </p:sp>
      <p:sp>
        <p:nvSpPr>
          <p:cNvPr id="14" name="s2-label-2">
            <a:extLst xmlns:a="http://schemas.openxmlformats.org/drawingml/2006/main">
              <a:ext uri="{FF2B5EF4-FFF2-40B4-BE49-F238E27FC236}">
                <a16:creationId xmlns:a16="http://schemas.microsoft.com/office/drawing/2014/main" id="{F30B0D59-77C7-4CF1-B573-8F07674E6E7B}"/>
              </a:ext>
            </a:extLst>
          </p:cNvPr>
          <p:cNvSpPr>
            <a:spLocks xmlns:a="http://schemas.openxmlformats.org/drawingml/2006/main" noGrp="1"/>
          </p:cNvSpPr>
          <p:nvPr/>
        </p:nvSpPr>
        <p:spPr>
          <a:xfrm xmlns:a="http://schemas.openxmlformats.org/drawingml/2006/main">
            <a:off x="7924800" y="31432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B84D"/>
                </a:solidFill>
                <a:latin typeface="Consolas"/>
                <a:ea typeface="Consolas"/>
                <a:cs typeface="Consolas"/>
              </a:defRPr>
            </a:pPr>
            <a:r>
              <a:rPr sz="1350" b="1">
                <a:solidFill>
                  <a:srgbClr val="FFB84D"/>
                </a:solidFill>
                <a:latin typeface="Consolas"/>
                <a:ea typeface="Consolas"/>
                <a:cs typeface="Consolas"/>
              </a:rPr>
              <a:t>NO TASK RECEIPT</a:t>
            </a:r>
          </a:p>
        </p:txBody>
      </p:sp>
      <p:sp>
        <p:nvSpPr>
          <p:cNvPr id="15" name="s2-body-2">
            <a:extLst xmlns:a="http://schemas.openxmlformats.org/drawingml/2006/main">
              <a:ext uri="{FF2B5EF4-FFF2-40B4-BE49-F238E27FC236}">
                <a16:creationId xmlns:a16="http://schemas.microsoft.com/office/drawing/2014/main" id="{F5AAA94B-CA9A-4690-AA30-689EB455C4BB}"/>
              </a:ext>
            </a:extLst>
          </p:cNvPr>
          <p:cNvSpPr>
            <a:spLocks xmlns:a="http://schemas.openxmlformats.org/drawingml/2006/main" noGrp="1"/>
          </p:cNvSpPr>
          <p:nvPr/>
        </p:nvSpPr>
        <p:spPr>
          <a:xfrm xmlns:a="http://schemas.openxmlformats.org/drawingml/2006/main">
            <a:off x="7924800" y="358140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A provider bill without</a:t>
            </a:r>
          </a:p>
          <a:p xmlns:a="http://schemas.openxmlformats.org/drawingml/2006/main">
            <a:pPr algn="l">
              <a:lnSpc>
                <a:spcPct val="100000"/>
              </a:lnSpc>
              <a:buNone/>
              <a:defRPr sz="2025" b="1">
                <a:solidFill>
                  <a:srgbClr val="F7FAFC"/>
                </a:solidFill>
                <a:latin typeface="Aptos Display"/>
                <a:ea typeface="Aptos Display"/>
                <a:cs typeface="Aptos Display"/>
              </a:defRPr>
            </a:pPr>
            <a:r>
              <a:rPr sz="2025" b="1">
                <a:solidFill>
                  <a:srgbClr val="F7FAFC"/>
                </a:solidFill>
                <a:latin typeface="Aptos Display"/>
                <a:ea typeface="Aptos Display"/>
                <a:cs typeface="Aptos Display"/>
              </a:rPr>
              <a:t>a quality verdict</a:t>
            </a:r>
          </a:p>
        </p:txBody>
      </p:sp>
      <p:sp>
        <p:nvSpPr>
          <p:cNvPr id="16" name="s2-total">
            <a:extLst xmlns:a="http://schemas.openxmlformats.org/drawingml/2006/main">
              <a:ext uri="{FF2B5EF4-FFF2-40B4-BE49-F238E27FC236}">
                <a16:creationId xmlns:a16="http://schemas.microsoft.com/office/drawing/2014/main" id="{BB3C2933-50F6-45EB-B79F-D74F2EE00E62}"/>
              </a:ext>
            </a:extLst>
          </p:cNvPr>
          <p:cNvSpPr>
            <a:spLocks xmlns:a="http://schemas.openxmlformats.org/drawingml/2006/main" noGrp="1"/>
          </p:cNvSpPr>
          <p:nvPr/>
        </p:nvSpPr>
        <p:spPr>
          <a:xfrm xmlns:a="http://schemas.openxmlformats.org/drawingml/2006/main">
            <a:off x="609600" y="4905375"/>
            <a:ext cx="10972800" cy="1066800"/>
          </a:xfrm>
          <a:prstGeom xmlns:a="http://schemas.openxmlformats.org/drawingml/2006/main" prst="roundRect">
            <a:avLst>
              <a:gd name="adj" fmla="val 16071"/>
            </a:avLst>
          </a:prstGeom>
          <a:solidFill xmlns:a="http://schemas.openxmlformats.org/drawingml/2006/main">
            <a:srgbClr val="0E1520"/>
          </a:solidFill>
          <a:ln xmlns:a="http://schemas.openxmlformats.org/drawingml/2006/main" w="19050">
            <a:solidFill>
              <a:srgbClr val="FF6B6B"/>
            </a:solidFill>
            <a:prstDash val="solid"/>
          </a:ln>
        </p:spPr>
      </p:sp>
      <p:sp>
        <p:nvSpPr>
          <p:cNvPr id="17" name="s2-total-label">
            <a:extLst xmlns:a="http://schemas.openxmlformats.org/drawingml/2006/main">
              <a:ext uri="{FF2B5EF4-FFF2-40B4-BE49-F238E27FC236}">
                <a16:creationId xmlns:a16="http://schemas.microsoft.com/office/drawing/2014/main" id="{36923E82-0B5B-4C67-B8DF-C66EFDAB993C}"/>
              </a:ext>
            </a:extLst>
          </p:cNvPr>
          <p:cNvSpPr>
            <a:spLocks xmlns:a="http://schemas.openxmlformats.org/drawingml/2006/main" noGrp="1"/>
          </p:cNvSpPr>
          <p:nvPr/>
        </p:nvSpPr>
        <p:spPr>
          <a:xfrm xmlns:a="http://schemas.openxmlformats.org/drawingml/2006/main">
            <a:off x="876300" y="5143500"/>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6B6B"/>
                </a:solidFill>
                <a:latin typeface="Consolas"/>
                <a:ea typeface="Consolas"/>
                <a:cs typeface="Consolas"/>
              </a:defRPr>
            </a:pPr>
            <a:r>
              <a:rPr sz="1200" b="1">
                <a:solidFill>
                  <a:srgbClr val="FF6B6B"/>
                </a:solidFill>
                <a:latin typeface="Consolas"/>
                <a:ea typeface="Consolas"/>
                <a:cs typeface="Consolas"/>
              </a:rPr>
              <a:t>TOTAL</a:t>
            </a:r>
          </a:p>
        </p:txBody>
      </p:sp>
      <p:sp>
        <p:nvSpPr>
          <p:cNvPr id="18" name="s2-total-value">
            <a:extLst xmlns:a="http://schemas.openxmlformats.org/drawingml/2006/main">
              <a:ext uri="{FF2B5EF4-FFF2-40B4-BE49-F238E27FC236}">
                <a16:creationId xmlns:a16="http://schemas.microsoft.com/office/drawing/2014/main" id="{17DFF034-6283-4BB9-BEC7-CDC7DCD48506}"/>
              </a:ext>
            </a:extLst>
          </p:cNvPr>
          <p:cNvSpPr>
            <a:spLocks xmlns:a="http://schemas.openxmlformats.org/drawingml/2006/main" noGrp="1"/>
          </p:cNvSpPr>
          <p:nvPr/>
        </p:nvSpPr>
        <p:spPr>
          <a:xfrm xmlns:a="http://schemas.openxmlformats.org/drawingml/2006/main">
            <a:off x="876300" y="539115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000" b="1">
                <a:solidFill>
                  <a:srgbClr val="F7FAFC"/>
                </a:solidFill>
                <a:latin typeface="Aptos Display"/>
                <a:ea typeface="Aptos Display"/>
                <a:cs typeface="Aptos Display"/>
              </a:defRPr>
            </a:pPr>
            <a:r>
              <a:rPr sz="3000" b="1">
                <a:solidFill>
                  <a:srgbClr val="F7FAFC"/>
                </a:solidFill>
                <a:latin typeface="Aptos Display"/>
                <a:ea typeface="Aptos Display"/>
                <a:cs typeface="Aptos Display"/>
              </a:rPr>
              <a:t>FULL PRICE. AGAIN.</a:t>
            </a:r>
          </a:p>
        </p:txBody>
      </p:sp>
      <p:sp>
        <p:nvSpPr>
          <p:cNvPr id="19" name="s2-total-side">
            <a:extLst xmlns:a="http://schemas.openxmlformats.org/drawingml/2006/main">
              <a:ext uri="{FF2B5EF4-FFF2-40B4-BE49-F238E27FC236}">
                <a16:creationId xmlns:a16="http://schemas.microsoft.com/office/drawing/2014/main" id="{3A9ABAB8-CFBD-4B5D-9ADA-DD299DD0E6CA}"/>
              </a:ext>
            </a:extLst>
          </p:cNvPr>
          <p:cNvSpPr>
            <a:spLocks xmlns:a="http://schemas.openxmlformats.org/drawingml/2006/main" noGrp="1"/>
          </p:cNvSpPr>
          <p:nvPr/>
        </p:nvSpPr>
        <p:spPr>
          <a:xfrm xmlns:a="http://schemas.openxmlformats.org/drawingml/2006/main">
            <a:off x="8248650" y="520065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a:solidFill>
                  <a:srgbClr val="8B95A7"/>
                </a:solidFill>
                <a:latin typeface="Consolas"/>
                <a:ea typeface="Consolas"/>
                <a:cs typeface="Consolas"/>
              </a:defRPr>
            </a:pPr>
            <a:r>
              <a:rPr sz="1350" b="1">
                <a:solidFill>
                  <a:srgbClr val="8B95A7"/>
                </a:solidFill>
                <a:latin typeface="Consolas"/>
                <a:ea typeface="Consolas"/>
                <a:cs typeface="Consolas"/>
              </a:rPr>
              <a:t>A UNIT-ECONOMICS RESET</a:t>
            </a:r>
          </a:p>
          <a:p xmlns:a="http://schemas.openxmlformats.org/drawingml/2006/main">
            <a:pPr algn="r">
              <a:lnSpc>
                <a:spcPct val="100000"/>
              </a:lnSpc>
              <a:buNone/>
              <a:defRPr sz="1350" b="1">
                <a:solidFill>
                  <a:srgbClr val="8B95A7"/>
                </a:solidFill>
                <a:latin typeface="Consolas"/>
                <a:ea typeface="Consolas"/>
                <a:cs typeface="Consolas"/>
              </a:defRPr>
            </a:pPr>
            <a:r>
              <a:rPr sz="1350" b="1">
                <a:solidFill>
                  <a:srgbClr val="8B95A7"/>
                </a:solidFill>
                <a:latin typeface="Consolas"/>
                <a:ea typeface="Consolas"/>
                <a:cs typeface="Consolas"/>
              </a:rPr>
              <a:t>ON EVERY REPEAT</a:t>
            </a:r>
          </a:p>
        </p:txBody>
      </p:sp>
      <p:sp>
        <p:nvSpPr>
          <p:cNvPr id="20" name="footer-2">
            <a:extLst xmlns:a="http://schemas.openxmlformats.org/drawingml/2006/main">
              <a:ext uri="{FF2B5EF4-FFF2-40B4-BE49-F238E27FC236}">
                <a16:creationId xmlns:a16="http://schemas.microsoft.com/office/drawing/2014/main" id="{B79C18FC-D42A-455F-8978-EC56FE53D44B}"/>
              </a:ext>
            </a:extLst>
          </p:cNvPr>
          <p:cNvSpPr>
            <a:spLocks xmlns:a="http://schemas.openxmlformats.org/drawingml/2006/main" noGrp="1"/>
          </p:cNvSpPr>
          <p:nvPr/>
        </p:nvSpPr>
        <p:spPr>
          <a:xfrm xmlns:a="http://schemas.openxmlformats.org/drawingml/2006/main">
            <a:off x="609600" y="64008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B95A7"/>
                </a:solidFill>
                <a:latin typeface="Consolas"/>
                <a:ea typeface="Consolas"/>
                <a:cs typeface="Consolas"/>
              </a:defRPr>
            </a:pPr>
            <a:r>
              <a:rPr sz="1050" b="0">
                <a:solidFill>
                  <a:srgbClr val="8B95A7"/>
                </a:solidFill>
                <a:latin typeface="Consolas"/>
                <a:ea typeface="Consolas"/>
                <a:cs typeface="Consolas"/>
              </a:rPr>
              <a:t>CONTEXT TAX + REPETITION TAX + ACCOUNTABILITY GAP</a:t>
            </a:r>
          </a:p>
        </p:txBody>
      </p:sp>
    </p:spTree>
    <p:extLst>
      <p:ext uri="{BB962C8B-B14F-4D97-AF65-F5344CB8AC3E}">
        <p14:creationId xmlns:p14="http://schemas.microsoft.com/office/powerpoint/2010/main" val="288061148"/>
      </p:ext>
    </p:extLst>
  </p:cSld>
</p:sld>
</file>

<file path=ppt/slides/slide3.xml><?xml version="1.0" encoding="utf-8"?>
<p:sld xmlns:p="http://schemas.openxmlformats.org/presentationml/2006/main">
  <p:cSld>
    <p:bg>
      <p:bgPr>
        <a:solidFill xmlns:a="http://schemas.openxmlformats.org/drawingml/2006/main">
          <a:srgbClr val="070A0F"/>
        </a:solidFill>
      </p:bgPr>
    </p:bg>
    <p:spTree>
      <p:nvGrpSpPr>
        <p:cNvPr id="1" name=""/>
        <p:cNvGrpSpPr/>
        <p:nvPr/>
      </p:nvGrpSpPr>
      <p:grpSpPr>
        <a:xfrm xmlns:a="http://schemas.openxmlformats.org/drawingml/2006/main"/>
      </p:grpSpPr>
      <p:sp>
        <p:nvSpPr>
          <p:cNvPr id="30" name="eyebrow-3">
            <a:extLst xmlns:a="http://schemas.openxmlformats.org/drawingml/2006/main">
              <a:ext uri="{FF2B5EF4-FFF2-40B4-BE49-F238E27FC236}">
                <a16:creationId xmlns:a16="http://schemas.microsoft.com/office/drawing/2014/main" id="{2F0A916E-D0E5-47B8-B36A-1174BF133BE5}"/>
              </a:ext>
            </a:extLst>
          </p:cNvPr>
          <p:cNvSpPr>
            <a:spLocks xmlns:a="http://schemas.openxmlformats.org/drawingml/2006/main" noGrp="1"/>
          </p:cNvSpPr>
          <p:nvPr/>
        </p:nvSpPr>
        <p:spPr>
          <a:xfrm xmlns:a="http://schemas.openxmlformats.org/drawingml/2006/main">
            <a:off x="609600" y="3619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9B5E8"/>
                </a:solidFill>
                <a:latin typeface="Consolas"/>
                <a:ea typeface="Consolas"/>
                <a:cs typeface="Consolas"/>
              </a:defRPr>
            </a:pPr>
            <a:r>
              <a:rPr sz="1200" b="1">
                <a:solidFill>
                  <a:srgbClr val="29B5E8"/>
                </a:solidFill>
                <a:latin typeface="Consolas"/>
                <a:ea typeface="Consolas"/>
                <a:cs typeface="Consolas"/>
              </a:rPr>
              <a:t>THE PRODUCT</a:t>
            </a:r>
          </a:p>
        </p:txBody>
      </p:sp>
      <p:sp>
        <p:nvSpPr>
          <p:cNvPr id="2" name="number-3">
            <a:extLst xmlns:a="http://schemas.openxmlformats.org/drawingml/2006/main">
              <a:ext uri="{FF2B5EF4-FFF2-40B4-BE49-F238E27FC236}">
                <a16:creationId xmlns:a16="http://schemas.microsoft.com/office/drawing/2014/main" id="{5EFE87A7-8B80-42AD-921F-8CE13558D271}"/>
              </a:ext>
            </a:extLst>
          </p:cNvPr>
          <p:cNvSpPr>
            <a:spLocks xmlns:a="http://schemas.openxmlformats.org/drawingml/2006/main" noGrp="1"/>
          </p:cNvSpPr>
          <p:nvPr/>
        </p:nvSpPr>
        <p:spPr>
          <a:xfrm xmlns:a="http://schemas.openxmlformats.org/drawingml/2006/main">
            <a:off x="11087100" y="3619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8B95A7"/>
                </a:solidFill>
                <a:latin typeface="Consolas"/>
                <a:ea typeface="Consolas"/>
                <a:cs typeface="Consolas"/>
              </a:defRPr>
            </a:pPr>
            <a:r>
              <a:rPr sz="1200" b="1">
                <a:solidFill>
                  <a:srgbClr val="8B95A7"/>
                </a:solidFill>
                <a:latin typeface="Consolas"/>
                <a:ea typeface="Consolas"/>
                <a:cs typeface="Consolas"/>
              </a:rPr>
              <a:t>03</a:t>
            </a:r>
          </a:p>
        </p:txBody>
      </p:sp>
      <p:sp>
        <p:nvSpPr>
          <p:cNvPr id="3" name="s3-title">
            <a:extLst xmlns:a="http://schemas.openxmlformats.org/drawingml/2006/main">
              <a:ext uri="{FF2B5EF4-FFF2-40B4-BE49-F238E27FC236}">
                <a16:creationId xmlns:a16="http://schemas.microsoft.com/office/drawing/2014/main" id="{46D3DD0B-D59D-450A-8F51-3A6A3B96DB7D}"/>
              </a:ext>
            </a:extLst>
          </p:cNvPr>
          <p:cNvSpPr>
            <a:spLocks xmlns:a="http://schemas.openxmlformats.org/drawingml/2006/main" noGrp="1"/>
          </p:cNvSpPr>
          <p:nvPr/>
        </p:nvSpPr>
        <p:spPr>
          <a:xfrm xmlns:a="http://schemas.openxmlformats.org/drawingml/2006/main">
            <a:off x="609600" y="857250"/>
            <a:ext cx="981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750" b="1">
                <a:solidFill>
                  <a:srgbClr val="F7FAFC"/>
                </a:solidFill>
                <a:latin typeface="Aptos Display"/>
                <a:ea typeface="Aptos Display"/>
                <a:cs typeface="Aptos Display"/>
              </a:defRPr>
            </a:pPr>
            <a:r>
              <a:rPr sz="3750" b="1">
                <a:solidFill>
                  <a:srgbClr val="F7FAFC"/>
                </a:solidFill>
                <a:latin typeface="Aptos Display"/>
                <a:ea typeface="Aptos Display"/>
                <a:cs typeface="Aptos Display"/>
              </a:rPr>
              <a:t>One endpoint becomes a control plane.</a:t>
            </a:r>
          </a:p>
        </p:txBody>
      </p:sp>
      <p:sp>
        <p:nvSpPr>
          <p:cNvPr id="4" name="s3-code">
            <a:extLst xmlns:a="http://schemas.openxmlformats.org/drawingml/2006/main">
              <a:ext uri="{FF2B5EF4-FFF2-40B4-BE49-F238E27FC236}">
                <a16:creationId xmlns:a16="http://schemas.microsoft.com/office/drawing/2014/main" id="{8CDD6009-CCE5-4BC6-8955-51C755C500E6}"/>
              </a:ext>
            </a:extLst>
          </p:cNvPr>
          <p:cNvSpPr>
            <a:spLocks xmlns:a="http://schemas.openxmlformats.org/drawingml/2006/main" noGrp="1"/>
          </p:cNvSpPr>
          <p:nvPr/>
        </p:nvSpPr>
        <p:spPr>
          <a:xfrm xmlns:a="http://schemas.openxmlformats.org/drawingml/2006/main">
            <a:off x="609600" y="1847850"/>
            <a:ext cx="10972800" cy="1200150"/>
          </a:xfrm>
          <a:prstGeom xmlns:a="http://schemas.openxmlformats.org/drawingml/2006/main" prst="roundRect">
            <a:avLst>
              <a:gd name="adj" fmla="val 14286"/>
            </a:avLst>
          </a:prstGeom>
          <a:solidFill xmlns:a="http://schemas.openxmlformats.org/drawingml/2006/main">
            <a:srgbClr val="0E1520"/>
          </a:solidFill>
          <a:ln xmlns:a="http://schemas.openxmlformats.org/drawingml/2006/main" w="9525">
            <a:solidFill>
              <a:srgbClr val="4B586B"/>
            </a:solidFill>
            <a:prstDash val="solid"/>
          </a:ln>
        </p:spPr>
      </p:sp>
      <p:sp>
        <p:nvSpPr>
          <p:cNvPr id="5" name="s3-code-old">
            <a:extLst xmlns:a="http://schemas.openxmlformats.org/drawingml/2006/main">
              <a:ext uri="{FF2B5EF4-FFF2-40B4-BE49-F238E27FC236}">
                <a16:creationId xmlns:a16="http://schemas.microsoft.com/office/drawing/2014/main" id="{DA2F54A2-4776-43AB-966C-F796067C0191}"/>
              </a:ext>
            </a:extLst>
          </p:cNvPr>
          <p:cNvSpPr>
            <a:spLocks xmlns:a="http://schemas.openxmlformats.org/drawingml/2006/main" noGrp="1"/>
          </p:cNvSpPr>
          <p:nvPr/>
        </p:nvSpPr>
        <p:spPr>
          <a:xfrm xmlns:a="http://schemas.openxmlformats.org/drawingml/2006/main">
            <a:off x="895350" y="21145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a:solidFill>
                  <a:srgbClr val="8B95A7"/>
                </a:solidFill>
                <a:latin typeface="Consolas"/>
                <a:ea typeface="Consolas"/>
                <a:cs typeface="Consolas"/>
              </a:defRPr>
            </a:pPr>
            <a:r>
              <a:rPr sz="1725" b="0">
                <a:solidFill>
                  <a:srgbClr val="8B95A7"/>
                </a:solidFill>
                <a:latin typeface="Consolas"/>
                <a:ea typeface="Consolas"/>
                <a:cs typeface="Consolas"/>
              </a:rPr>
              <a:t>− base_url = provider</a:t>
            </a:r>
          </a:p>
        </p:txBody>
      </p:sp>
      <p:sp>
        <p:nvSpPr>
          <p:cNvPr id="6" name="s3-code-new">
            <a:extLst xmlns:a="http://schemas.openxmlformats.org/drawingml/2006/main">
              <a:ext uri="{FF2B5EF4-FFF2-40B4-BE49-F238E27FC236}">
                <a16:creationId xmlns:a16="http://schemas.microsoft.com/office/drawing/2014/main" id="{50147297-EE20-42AD-AE62-5AEEFCE8A21D}"/>
              </a:ext>
            </a:extLst>
          </p:cNvPr>
          <p:cNvSpPr>
            <a:spLocks xmlns:a="http://schemas.openxmlformats.org/drawingml/2006/main" noGrp="1"/>
          </p:cNvSpPr>
          <p:nvPr/>
        </p:nvSpPr>
        <p:spPr>
          <a:xfrm xmlns:a="http://schemas.openxmlformats.org/drawingml/2006/main">
            <a:off x="895350" y="25431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B8FF5A"/>
                </a:solidFill>
                <a:latin typeface="Consolas"/>
                <a:ea typeface="Consolas"/>
                <a:cs typeface="Consolas"/>
              </a:defRPr>
            </a:pPr>
            <a:r>
              <a:rPr sz="1800" b="1">
                <a:solidFill>
                  <a:srgbClr val="B8FF5A"/>
                </a:solidFill>
                <a:latin typeface="Consolas"/>
                <a:ea typeface="Consolas"/>
                <a:cs typeface="Consolas"/>
              </a:rPr>
              <a:t>+ base_url = http://127.0.0.1:4000/v1</a:t>
            </a:r>
          </a:p>
        </p:txBody>
      </p:sp>
      <p:sp>
        <p:nvSpPr>
          <p:cNvPr id="7" name="s3-code-tag">
            <a:extLst xmlns:a="http://schemas.openxmlformats.org/drawingml/2006/main">
              <a:ext uri="{FF2B5EF4-FFF2-40B4-BE49-F238E27FC236}">
                <a16:creationId xmlns:a16="http://schemas.microsoft.com/office/drawing/2014/main" id="{221511BF-4455-4EB2-BD13-1021BF0D4074}"/>
              </a:ext>
            </a:extLst>
          </p:cNvPr>
          <p:cNvSpPr>
            <a:spLocks xmlns:a="http://schemas.openxmlformats.org/drawingml/2006/main" noGrp="1"/>
          </p:cNvSpPr>
          <p:nvPr/>
        </p:nvSpPr>
        <p:spPr>
          <a:xfrm xmlns:a="http://schemas.openxmlformats.org/drawingml/2006/main">
            <a:off x="8858250" y="23241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1">
                <a:solidFill>
                  <a:srgbClr val="29B5E8"/>
                </a:solidFill>
                <a:latin typeface="Consolas"/>
                <a:ea typeface="Consolas"/>
                <a:cs typeface="Consolas"/>
              </a:defRPr>
            </a:pPr>
            <a:r>
              <a:rPr sz="1125" b="1">
                <a:solidFill>
                  <a:srgbClr val="29B5E8"/>
                </a:solidFill>
                <a:latin typeface="Consolas"/>
                <a:ea typeface="Consolas"/>
                <a:cs typeface="Consolas"/>
              </a:rPr>
              <a:t>THE ENTIRE INTEGRATION</a:t>
            </a:r>
          </a:p>
        </p:txBody>
      </p:sp>
      <p:sp>
        <p:nvSpPr>
          <p:cNvPr id="8" name="s3-node-0">
            <a:extLst xmlns:a="http://schemas.openxmlformats.org/drawingml/2006/main">
              <a:ext uri="{FF2B5EF4-FFF2-40B4-BE49-F238E27FC236}">
                <a16:creationId xmlns:a16="http://schemas.microsoft.com/office/drawing/2014/main" id="{69E18783-EC59-42F9-A403-F6706A257B4C}"/>
              </a:ext>
            </a:extLst>
          </p:cNvPr>
          <p:cNvSpPr>
            <a:spLocks xmlns:a="http://schemas.openxmlformats.org/drawingml/2006/main" noGrp="1"/>
          </p:cNvSpPr>
          <p:nvPr/>
        </p:nvSpPr>
        <p:spPr>
          <a:xfrm xmlns:a="http://schemas.openxmlformats.org/drawingml/2006/main">
            <a:off x="609600" y="3695700"/>
            <a:ext cx="1962150" cy="1123950"/>
          </a:xfrm>
          <a:prstGeom xmlns:a="http://schemas.openxmlformats.org/drawingml/2006/main" prst="roundRect">
            <a:avLst>
              <a:gd name="adj" fmla="val 15254"/>
            </a:avLst>
          </a:prstGeom>
          <a:solidFill xmlns:a="http://schemas.openxmlformats.org/drawingml/2006/main">
            <a:srgbClr val="111C29"/>
          </a:solidFill>
          <a:ln xmlns:a="http://schemas.openxmlformats.org/drawingml/2006/main" w="9525">
            <a:solidFill>
              <a:srgbClr val="8B95A7"/>
            </a:solidFill>
            <a:prstDash val="solid"/>
          </a:ln>
        </p:spPr>
      </p:sp>
      <p:sp>
        <p:nvSpPr>
          <p:cNvPr id="9" name="s3-node-title-0">
            <a:extLst xmlns:a="http://schemas.openxmlformats.org/drawingml/2006/main">
              <a:ext uri="{FF2B5EF4-FFF2-40B4-BE49-F238E27FC236}">
                <a16:creationId xmlns:a16="http://schemas.microsoft.com/office/drawing/2014/main" id="{78062C9C-90B2-4BA2-AFBD-32A859D3890A}"/>
              </a:ext>
            </a:extLst>
          </p:cNvPr>
          <p:cNvSpPr>
            <a:spLocks xmlns:a="http://schemas.openxmlformats.org/drawingml/2006/main" noGrp="1"/>
          </p:cNvSpPr>
          <p:nvPr/>
        </p:nvSpPr>
        <p:spPr>
          <a:xfrm xmlns:a="http://schemas.openxmlformats.org/drawingml/2006/main">
            <a:off x="762000" y="3943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a:solidFill>
                  <a:srgbClr val="8B95A7"/>
                </a:solidFill>
                <a:latin typeface="Consolas"/>
                <a:ea typeface="Consolas"/>
                <a:cs typeface="Consolas"/>
              </a:defRPr>
            </a:pPr>
            <a:r>
              <a:rPr sz="1425" b="1">
                <a:solidFill>
                  <a:srgbClr val="8B95A7"/>
                </a:solidFill>
                <a:latin typeface="Consolas"/>
                <a:ea typeface="Consolas"/>
                <a:cs typeface="Consolas"/>
              </a:rPr>
              <a:t>SUPPORTED AGENT</a:t>
            </a:r>
          </a:p>
        </p:txBody>
      </p:sp>
      <p:sp>
        <p:nvSpPr>
          <p:cNvPr id="10" name="s3-node-sub-0">
            <a:extLst xmlns:a="http://schemas.openxmlformats.org/drawingml/2006/main">
              <a:ext uri="{FF2B5EF4-FFF2-40B4-BE49-F238E27FC236}">
                <a16:creationId xmlns:a16="http://schemas.microsoft.com/office/drawing/2014/main" id="{0DEE4B39-5DC9-4ECF-BA5B-5C527B9AD258}"/>
              </a:ext>
            </a:extLst>
          </p:cNvPr>
          <p:cNvSpPr>
            <a:spLocks xmlns:a="http://schemas.openxmlformats.org/drawingml/2006/main" noGrp="1"/>
          </p:cNvSpPr>
          <p:nvPr/>
        </p:nvSpPr>
        <p:spPr>
          <a:xfrm xmlns:a="http://schemas.openxmlformats.org/drawingml/2006/main">
            <a:off x="762000" y="4324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F7FAFC"/>
                </a:solidFill>
                <a:latin typeface="Aptos"/>
                <a:ea typeface="Aptos"/>
                <a:cs typeface="Aptos"/>
              </a:defRPr>
            </a:pPr>
            <a:r>
              <a:rPr sz="1350" b="0">
                <a:solidFill>
                  <a:srgbClr val="F7FAFC"/>
                </a:solidFill>
                <a:latin typeface="Aptos"/>
                <a:ea typeface="Aptos"/>
                <a:cs typeface="Aptos"/>
              </a:rPr>
              <a:t>same client</a:t>
            </a:r>
          </a:p>
        </p:txBody>
      </p:sp>
      <p:sp>
        <p:nvSpPr>
          <p:cNvPr id="11" name="s3-arrow-0">
            <a:extLst xmlns:a="http://schemas.openxmlformats.org/drawingml/2006/main">
              <a:ext uri="{FF2B5EF4-FFF2-40B4-BE49-F238E27FC236}">
                <a16:creationId xmlns:a16="http://schemas.microsoft.com/office/drawing/2014/main" id="{1F61A05E-4E85-40CB-B934-3DF13FC7B0B5}"/>
              </a:ext>
            </a:extLst>
          </p:cNvPr>
          <p:cNvSpPr>
            <a:spLocks xmlns:a="http://schemas.openxmlformats.org/drawingml/2006/main" noGrp="1"/>
          </p:cNvSpPr>
          <p:nvPr/>
        </p:nvSpPr>
        <p:spPr>
          <a:xfrm xmlns:a="http://schemas.openxmlformats.org/drawingml/2006/main">
            <a:off x="2647950" y="40386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8B95A7"/>
                </a:solidFill>
                <a:latin typeface="Aptos"/>
                <a:ea typeface="Aptos"/>
                <a:cs typeface="Aptos"/>
              </a:defRPr>
            </a:pPr>
            <a:r>
              <a:rPr sz="2100" b="1">
                <a:solidFill>
                  <a:srgbClr val="8B95A7"/>
                </a:solidFill>
                <a:latin typeface="Aptos"/>
                <a:ea typeface="Aptos"/>
                <a:cs typeface="Aptos"/>
              </a:rPr>
              <a:t>→</a:t>
            </a:r>
          </a:p>
        </p:txBody>
      </p:sp>
      <p:sp>
        <p:nvSpPr>
          <p:cNvPr id="12" name="s3-node-1">
            <a:extLst xmlns:a="http://schemas.openxmlformats.org/drawingml/2006/main">
              <a:ext uri="{FF2B5EF4-FFF2-40B4-BE49-F238E27FC236}">
                <a16:creationId xmlns:a16="http://schemas.microsoft.com/office/drawing/2014/main" id="{E410FC1B-DAE4-4F37-8E00-FE3EADC048CC}"/>
              </a:ext>
            </a:extLst>
          </p:cNvPr>
          <p:cNvSpPr>
            <a:spLocks xmlns:a="http://schemas.openxmlformats.org/drawingml/2006/main" noGrp="1"/>
          </p:cNvSpPr>
          <p:nvPr/>
        </p:nvSpPr>
        <p:spPr>
          <a:xfrm xmlns:a="http://schemas.openxmlformats.org/drawingml/2006/main">
            <a:off x="3067050" y="3695700"/>
            <a:ext cx="1962150" cy="1123950"/>
          </a:xfrm>
          <a:prstGeom xmlns:a="http://schemas.openxmlformats.org/drawingml/2006/main" prst="roundRect">
            <a:avLst>
              <a:gd name="adj" fmla="val 15254"/>
            </a:avLst>
          </a:prstGeom>
          <a:solidFill xmlns:a="http://schemas.openxmlformats.org/drawingml/2006/main">
            <a:srgbClr val="111C29"/>
          </a:solidFill>
          <a:ln xmlns:a="http://schemas.openxmlformats.org/drawingml/2006/main" w="19050">
            <a:solidFill>
              <a:srgbClr val="29B5E8"/>
            </a:solidFill>
            <a:prstDash val="solid"/>
          </a:ln>
        </p:spPr>
      </p:sp>
      <p:sp>
        <p:nvSpPr>
          <p:cNvPr id="13" name="s3-node-title-1">
            <a:extLst xmlns:a="http://schemas.openxmlformats.org/drawingml/2006/main">
              <a:ext uri="{FF2B5EF4-FFF2-40B4-BE49-F238E27FC236}">
                <a16:creationId xmlns:a16="http://schemas.microsoft.com/office/drawing/2014/main" id="{0A37213E-23B4-455F-8080-BA75CAA70F9D}"/>
              </a:ext>
            </a:extLst>
          </p:cNvPr>
          <p:cNvSpPr>
            <a:spLocks xmlns:a="http://schemas.openxmlformats.org/drawingml/2006/main" noGrp="1"/>
          </p:cNvSpPr>
          <p:nvPr/>
        </p:nvSpPr>
        <p:spPr>
          <a:xfrm xmlns:a="http://schemas.openxmlformats.org/drawingml/2006/main">
            <a:off x="3219450" y="3943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a:solidFill>
                  <a:srgbClr val="29B5E8"/>
                </a:solidFill>
                <a:latin typeface="Consolas"/>
                <a:ea typeface="Consolas"/>
                <a:cs typeface="Consolas"/>
              </a:defRPr>
            </a:pPr>
            <a:r>
              <a:rPr sz="1425" b="1">
                <a:solidFill>
                  <a:srgbClr val="29B5E8"/>
                </a:solidFill>
                <a:latin typeface="Consolas"/>
                <a:ea typeface="Consolas"/>
                <a:cs typeface="Consolas"/>
              </a:rPr>
              <a:t>LIGHTEN</a:t>
            </a:r>
          </a:p>
        </p:txBody>
      </p:sp>
      <p:sp>
        <p:nvSpPr>
          <p:cNvPr id="14" name="s3-node-sub-1">
            <a:extLst xmlns:a="http://schemas.openxmlformats.org/drawingml/2006/main">
              <a:ext uri="{FF2B5EF4-FFF2-40B4-BE49-F238E27FC236}">
                <a16:creationId xmlns:a16="http://schemas.microsoft.com/office/drawing/2014/main" id="{A2230112-7289-4CEC-ADCB-D5890E610399}"/>
              </a:ext>
            </a:extLst>
          </p:cNvPr>
          <p:cNvSpPr>
            <a:spLocks xmlns:a="http://schemas.openxmlformats.org/drawingml/2006/main" noGrp="1"/>
          </p:cNvSpPr>
          <p:nvPr/>
        </p:nvSpPr>
        <p:spPr>
          <a:xfrm xmlns:a="http://schemas.openxmlformats.org/drawingml/2006/main">
            <a:off x="3219450" y="4324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F7FAFC"/>
                </a:solidFill>
                <a:latin typeface="Aptos"/>
                <a:ea typeface="Aptos"/>
                <a:cs typeface="Aptos"/>
              </a:defRPr>
            </a:pPr>
            <a:r>
              <a:rPr sz="1350" b="0">
                <a:solidFill>
                  <a:srgbClr val="F7FAFC"/>
                </a:solidFill>
                <a:latin typeface="Aptos"/>
                <a:ea typeface="Aptos"/>
                <a:cs typeface="Aptos"/>
              </a:rPr>
              <a:t>needed context</a:t>
            </a:r>
          </a:p>
        </p:txBody>
      </p:sp>
      <p:sp>
        <p:nvSpPr>
          <p:cNvPr id="15" name="s3-arrow-1">
            <a:extLst xmlns:a="http://schemas.openxmlformats.org/drawingml/2006/main">
              <a:ext uri="{FF2B5EF4-FFF2-40B4-BE49-F238E27FC236}">
                <a16:creationId xmlns:a16="http://schemas.microsoft.com/office/drawing/2014/main" id="{E513D355-6354-4AE2-BA43-7C7DA545150B}"/>
              </a:ext>
            </a:extLst>
          </p:cNvPr>
          <p:cNvSpPr>
            <a:spLocks xmlns:a="http://schemas.openxmlformats.org/drawingml/2006/main" noGrp="1"/>
          </p:cNvSpPr>
          <p:nvPr/>
        </p:nvSpPr>
        <p:spPr>
          <a:xfrm xmlns:a="http://schemas.openxmlformats.org/drawingml/2006/main">
            <a:off x="5105400" y="40386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8B95A7"/>
                </a:solidFill>
                <a:latin typeface="Aptos"/>
                <a:ea typeface="Aptos"/>
                <a:cs typeface="Aptos"/>
              </a:defRPr>
            </a:pPr>
            <a:r>
              <a:rPr sz="2100" b="1">
                <a:solidFill>
                  <a:srgbClr val="8B95A7"/>
                </a:solidFill>
                <a:latin typeface="Aptos"/>
                <a:ea typeface="Aptos"/>
                <a:cs typeface="Aptos"/>
              </a:rPr>
              <a:t>→</a:t>
            </a:r>
          </a:p>
        </p:txBody>
      </p:sp>
      <p:sp>
        <p:nvSpPr>
          <p:cNvPr id="16" name="s3-node-2">
            <a:extLst xmlns:a="http://schemas.openxmlformats.org/drawingml/2006/main">
              <a:ext uri="{FF2B5EF4-FFF2-40B4-BE49-F238E27FC236}">
                <a16:creationId xmlns:a16="http://schemas.microsoft.com/office/drawing/2014/main" id="{02E9A3B8-BC4F-4475-8747-63DCFE05C7BC}"/>
              </a:ext>
            </a:extLst>
          </p:cNvPr>
          <p:cNvSpPr>
            <a:spLocks xmlns:a="http://schemas.openxmlformats.org/drawingml/2006/main" noGrp="1"/>
          </p:cNvSpPr>
          <p:nvPr/>
        </p:nvSpPr>
        <p:spPr>
          <a:xfrm xmlns:a="http://schemas.openxmlformats.org/drawingml/2006/main">
            <a:off x="5524500" y="3695700"/>
            <a:ext cx="1962150" cy="1123950"/>
          </a:xfrm>
          <a:prstGeom xmlns:a="http://schemas.openxmlformats.org/drawingml/2006/main" prst="roundRect">
            <a:avLst>
              <a:gd name="adj" fmla="val 15254"/>
            </a:avLst>
          </a:prstGeom>
          <a:solidFill xmlns:a="http://schemas.openxmlformats.org/drawingml/2006/main">
            <a:srgbClr val="111C29"/>
          </a:solidFill>
          <a:ln xmlns:a="http://schemas.openxmlformats.org/drawingml/2006/main" w="19050">
            <a:solidFill>
              <a:srgbClr val="B8FF5A"/>
            </a:solidFill>
            <a:prstDash val="solid"/>
          </a:ln>
        </p:spPr>
      </p:sp>
      <p:sp>
        <p:nvSpPr>
          <p:cNvPr id="17" name="s3-node-title-2">
            <a:extLst xmlns:a="http://schemas.openxmlformats.org/drawingml/2006/main">
              <a:ext uri="{FF2B5EF4-FFF2-40B4-BE49-F238E27FC236}">
                <a16:creationId xmlns:a16="http://schemas.microsoft.com/office/drawing/2014/main" id="{F3990258-89E3-403D-827B-59CC18653F01}"/>
              </a:ext>
            </a:extLst>
          </p:cNvPr>
          <p:cNvSpPr>
            <a:spLocks xmlns:a="http://schemas.openxmlformats.org/drawingml/2006/main" noGrp="1"/>
          </p:cNvSpPr>
          <p:nvPr/>
        </p:nvSpPr>
        <p:spPr>
          <a:xfrm xmlns:a="http://schemas.openxmlformats.org/drawingml/2006/main">
            <a:off x="5676900" y="3943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a:solidFill>
                  <a:srgbClr val="B8FF5A"/>
                </a:solidFill>
                <a:latin typeface="Consolas"/>
                <a:ea typeface="Consolas"/>
                <a:cs typeface="Consolas"/>
              </a:defRPr>
            </a:pPr>
            <a:r>
              <a:rPr sz="1425" b="1">
                <a:solidFill>
                  <a:srgbClr val="B8FF5A"/>
                </a:solidFill>
                <a:latin typeface="Consolas"/>
                <a:ea typeface="Consolas"/>
                <a:cs typeface="Consolas"/>
              </a:rPr>
              <a:t>REPLAY</a:t>
            </a:r>
          </a:p>
        </p:txBody>
      </p:sp>
      <p:sp>
        <p:nvSpPr>
          <p:cNvPr id="18" name="s3-node-sub-2">
            <a:extLst xmlns:a="http://schemas.openxmlformats.org/drawingml/2006/main">
              <a:ext uri="{FF2B5EF4-FFF2-40B4-BE49-F238E27FC236}">
                <a16:creationId xmlns:a16="http://schemas.microsoft.com/office/drawing/2014/main" id="{F86DA5E3-BF64-43ED-9EF5-4806D0D67303}"/>
              </a:ext>
            </a:extLst>
          </p:cNvPr>
          <p:cNvSpPr>
            <a:spLocks xmlns:a="http://schemas.openxmlformats.org/drawingml/2006/main" noGrp="1"/>
          </p:cNvSpPr>
          <p:nvPr/>
        </p:nvSpPr>
        <p:spPr>
          <a:xfrm xmlns:a="http://schemas.openxmlformats.org/drawingml/2006/main">
            <a:off x="5676900" y="4324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F7FAFC"/>
                </a:solidFill>
                <a:latin typeface="Aptos"/>
                <a:ea typeface="Aptos"/>
                <a:cs typeface="Aptos"/>
              </a:defRPr>
            </a:pPr>
            <a:r>
              <a:rPr sz="1350" b="0">
                <a:solidFill>
                  <a:srgbClr val="F7FAFC"/>
                </a:solidFill>
                <a:latin typeface="Aptos"/>
                <a:ea typeface="Aptos"/>
                <a:cs typeface="Aptos"/>
              </a:rPr>
              <a:t>guarded procedure</a:t>
            </a:r>
          </a:p>
        </p:txBody>
      </p:sp>
      <p:sp>
        <p:nvSpPr>
          <p:cNvPr id="19" name="s3-arrow-2">
            <a:extLst xmlns:a="http://schemas.openxmlformats.org/drawingml/2006/main">
              <a:ext uri="{FF2B5EF4-FFF2-40B4-BE49-F238E27FC236}">
                <a16:creationId xmlns:a16="http://schemas.microsoft.com/office/drawing/2014/main" id="{61A6DB64-4482-4471-817E-96FA3795B14C}"/>
              </a:ext>
            </a:extLst>
          </p:cNvPr>
          <p:cNvSpPr>
            <a:spLocks xmlns:a="http://schemas.openxmlformats.org/drawingml/2006/main" noGrp="1"/>
          </p:cNvSpPr>
          <p:nvPr/>
        </p:nvSpPr>
        <p:spPr>
          <a:xfrm xmlns:a="http://schemas.openxmlformats.org/drawingml/2006/main">
            <a:off x="7562850" y="40386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8B95A7"/>
                </a:solidFill>
                <a:latin typeface="Aptos"/>
                <a:ea typeface="Aptos"/>
                <a:cs typeface="Aptos"/>
              </a:defRPr>
            </a:pPr>
            <a:r>
              <a:rPr sz="2100" b="1">
                <a:solidFill>
                  <a:srgbClr val="8B95A7"/>
                </a:solidFill>
                <a:latin typeface="Aptos"/>
                <a:ea typeface="Aptos"/>
                <a:cs typeface="Aptos"/>
              </a:rPr>
              <a:t>→</a:t>
            </a:r>
          </a:p>
        </p:txBody>
      </p:sp>
      <p:sp>
        <p:nvSpPr>
          <p:cNvPr id="20" name="s3-node-3">
            <a:extLst xmlns:a="http://schemas.openxmlformats.org/drawingml/2006/main">
              <a:ext uri="{FF2B5EF4-FFF2-40B4-BE49-F238E27FC236}">
                <a16:creationId xmlns:a16="http://schemas.microsoft.com/office/drawing/2014/main" id="{41B4F071-BF66-481C-97AE-DC0438D373B9}"/>
              </a:ext>
            </a:extLst>
          </p:cNvPr>
          <p:cNvSpPr>
            <a:spLocks xmlns:a="http://schemas.openxmlformats.org/drawingml/2006/main" noGrp="1"/>
          </p:cNvSpPr>
          <p:nvPr/>
        </p:nvSpPr>
        <p:spPr>
          <a:xfrm xmlns:a="http://schemas.openxmlformats.org/drawingml/2006/main">
            <a:off x="7981950" y="3695700"/>
            <a:ext cx="1962150" cy="1123950"/>
          </a:xfrm>
          <a:prstGeom xmlns:a="http://schemas.openxmlformats.org/drawingml/2006/main" prst="roundRect">
            <a:avLst>
              <a:gd name="adj" fmla="val 15254"/>
            </a:avLst>
          </a:prstGeom>
          <a:solidFill xmlns:a="http://schemas.openxmlformats.org/drawingml/2006/main">
            <a:srgbClr val="111C29"/>
          </a:solidFill>
          <a:ln xmlns:a="http://schemas.openxmlformats.org/drawingml/2006/main" w="19050">
            <a:solidFill>
              <a:srgbClr val="FFB84D"/>
            </a:solidFill>
            <a:prstDash val="solid"/>
          </a:ln>
        </p:spPr>
      </p:sp>
      <p:sp>
        <p:nvSpPr>
          <p:cNvPr id="21" name="s3-node-title-3">
            <a:extLst xmlns:a="http://schemas.openxmlformats.org/drawingml/2006/main">
              <a:ext uri="{FF2B5EF4-FFF2-40B4-BE49-F238E27FC236}">
                <a16:creationId xmlns:a16="http://schemas.microsoft.com/office/drawing/2014/main" id="{88E0EAA2-0866-4DE7-AF19-52C47755CEF1}"/>
              </a:ext>
            </a:extLst>
          </p:cNvPr>
          <p:cNvSpPr>
            <a:spLocks xmlns:a="http://schemas.openxmlformats.org/drawingml/2006/main" noGrp="1"/>
          </p:cNvSpPr>
          <p:nvPr/>
        </p:nvSpPr>
        <p:spPr>
          <a:xfrm xmlns:a="http://schemas.openxmlformats.org/drawingml/2006/main">
            <a:off x="8134350" y="3943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a:solidFill>
                  <a:srgbClr val="FFB84D"/>
                </a:solidFill>
                <a:latin typeface="Consolas"/>
                <a:ea typeface="Consolas"/>
                <a:cs typeface="Consolas"/>
              </a:defRPr>
            </a:pPr>
            <a:r>
              <a:rPr sz="1425" b="1">
                <a:solidFill>
                  <a:srgbClr val="FFB84D"/>
                </a:solidFill>
                <a:latin typeface="Consolas"/>
                <a:ea typeface="Consolas"/>
                <a:cs typeface="Consolas"/>
              </a:rPr>
              <a:t>PROVE</a:t>
            </a:r>
          </a:p>
        </p:txBody>
      </p:sp>
      <p:sp>
        <p:nvSpPr>
          <p:cNvPr id="22" name="s3-node-sub-3">
            <a:extLst xmlns:a="http://schemas.openxmlformats.org/drawingml/2006/main">
              <a:ext uri="{FF2B5EF4-FFF2-40B4-BE49-F238E27FC236}">
                <a16:creationId xmlns:a16="http://schemas.microsoft.com/office/drawing/2014/main" id="{B773F028-49CA-47BA-B3C5-17D4AE707915}"/>
              </a:ext>
            </a:extLst>
          </p:cNvPr>
          <p:cNvSpPr>
            <a:spLocks xmlns:a="http://schemas.openxmlformats.org/drawingml/2006/main" noGrp="1"/>
          </p:cNvSpPr>
          <p:nvPr/>
        </p:nvSpPr>
        <p:spPr>
          <a:xfrm xmlns:a="http://schemas.openxmlformats.org/drawingml/2006/main">
            <a:off x="8134350" y="43243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F7FAFC"/>
                </a:solidFill>
                <a:latin typeface="Aptos"/>
                <a:ea typeface="Aptos"/>
                <a:cs typeface="Aptos"/>
              </a:defRPr>
            </a:pPr>
            <a:r>
              <a:rPr sz="1350" b="0">
                <a:solidFill>
                  <a:srgbClr val="F7FAFC"/>
                </a:solidFill>
                <a:latin typeface="Aptos"/>
                <a:ea typeface="Aptos"/>
                <a:cs typeface="Aptos"/>
              </a:rPr>
              <a:t>economics receipt</a:t>
            </a:r>
          </a:p>
        </p:txBody>
      </p:sp>
      <p:sp>
        <p:nvSpPr>
          <p:cNvPr id="23" name="s3-arrow-3">
            <a:extLst xmlns:a="http://schemas.openxmlformats.org/drawingml/2006/main">
              <a:ext uri="{FF2B5EF4-FFF2-40B4-BE49-F238E27FC236}">
                <a16:creationId xmlns:a16="http://schemas.microsoft.com/office/drawing/2014/main" id="{C09EF9A7-02D9-4C79-867A-431705B6C832}"/>
              </a:ext>
            </a:extLst>
          </p:cNvPr>
          <p:cNvSpPr>
            <a:spLocks xmlns:a="http://schemas.openxmlformats.org/drawingml/2006/main" noGrp="1"/>
          </p:cNvSpPr>
          <p:nvPr/>
        </p:nvSpPr>
        <p:spPr>
          <a:xfrm xmlns:a="http://schemas.openxmlformats.org/drawingml/2006/main">
            <a:off x="10020300" y="40386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8B95A7"/>
                </a:solidFill>
                <a:latin typeface="Aptos"/>
                <a:ea typeface="Aptos"/>
                <a:cs typeface="Aptos"/>
              </a:defRPr>
            </a:pPr>
            <a:r>
              <a:rPr sz="2100" b="1">
                <a:solidFill>
                  <a:srgbClr val="8B95A7"/>
                </a:solidFill>
                <a:latin typeface="Aptos"/>
                <a:ea typeface="Aptos"/>
                <a:cs typeface="Aptos"/>
              </a:rPr>
              <a:t>→</a:t>
            </a:r>
          </a:p>
        </p:txBody>
      </p:sp>
      <p:sp>
        <p:nvSpPr>
          <p:cNvPr id="24" name="s3-node-4">
            <a:extLst xmlns:a="http://schemas.openxmlformats.org/drawingml/2006/main">
              <a:ext uri="{FF2B5EF4-FFF2-40B4-BE49-F238E27FC236}">
                <a16:creationId xmlns:a16="http://schemas.microsoft.com/office/drawing/2014/main" id="{87E38937-95D4-4F10-B695-83F57672A93C}"/>
              </a:ext>
            </a:extLst>
          </p:cNvPr>
          <p:cNvSpPr>
            <a:spLocks xmlns:a="http://schemas.openxmlformats.org/drawingml/2006/main" noGrp="1"/>
          </p:cNvSpPr>
          <p:nvPr/>
        </p:nvSpPr>
        <p:spPr>
          <a:xfrm xmlns:a="http://schemas.openxmlformats.org/drawingml/2006/main">
            <a:off x="10439400" y="3695700"/>
            <a:ext cx="1143000" cy="1123950"/>
          </a:xfrm>
          <a:prstGeom xmlns:a="http://schemas.openxmlformats.org/drawingml/2006/main" prst="roundRect">
            <a:avLst>
              <a:gd name="adj" fmla="val 15254"/>
            </a:avLst>
          </a:prstGeom>
          <a:solidFill xmlns:a="http://schemas.openxmlformats.org/drawingml/2006/main">
            <a:srgbClr val="111C29"/>
          </a:solidFill>
          <a:ln xmlns:a="http://schemas.openxmlformats.org/drawingml/2006/main" w="9525">
            <a:solidFill>
              <a:srgbClr val="8B95A7"/>
            </a:solidFill>
            <a:prstDash val="solid"/>
          </a:ln>
        </p:spPr>
      </p:sp>
      <p:sp>
        <p:nvSpPr>
          <p:cNvPr id="25" name="s3-node-title-4">
            <a:extLst xmlns:a="http://schemas.openxmlformats.org/drawingml/2006/main">
              <a:ext uri="{FF2B5EF4-FFF2-40B4-BE49-F238E27FC236}">
                <a16:creationId xmlns:a16="http://schemas.microsoft.com/office/drawing/2014/main" id="{2D76D610-D1A8-4C4E-87D0-8C62EC840128}"/>
              </a:ext>
            </a:extLst>
          </p:cNvPr>
          <p:cNvSpPr>
            <a:spLocks xmlns:a="http://schemas.openxmlformats.org/drawingml/2006/main" noGrp="1"/>
          </p:cNvSpPr>
          <p:nvPr/>
        </p:nvSpPr>
        <p:spPr>
          <a:xfrm xmlns:a="http://schemas.openxmlformats.org/drawingml/2006/main">
            <a:off x="10591800" y="39433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8B95A7"/>
                </a:solidFill>
                <a:latin typeface="Consolas"/>
                <a:ea typeface="Consolas"/>
                <a:cs typeface="Consolas"/>
              </a:defRPr>
            </a:pPr>
            <a:r>
              <a:rPr sz="1275" b="1">
                <a:solidFill>
                  <a:srgbClr val="8B95A7"/>
                </a:solidFill>
                <a:latin typeface="Consolas"/>
                <a:ea typeface="Consolas"/>
                <a:cs typeface="Consolas"/>
              </a:rPr>
              <a:t>MODEL</a:t>
            </a:r>
          </a:p>
        </p:txBody>
      </p:sp>
      <p:sp>
        <p:nvSpPr>
          <p:cNvPr id="26" name="s3-node-sub-4">
            <a:extLst xmlns:a="http://schemas.openxmlformats.org/drawingml/2006/main">
              <a:ext uri="{FF2B5EF4-FFF2-40B4-BE49-F238E27FC236}">
                <a16:creationId xmlns:a16="http://schemas.microsoft.com/office/drawing/2014/main" id="{49E520E9-A530-473B-88C4-E8EE10392305}"/>
              </a:ext>
            </a:extLst>
          </p:cNvPr>
          <p:cNvSpPr>
            <a:spLocks xmlns:a="http://schemas.openxmlformats.org/drawingml/2006/main" noGrp="1"/>
          </p:cNvSpPr>
          <p:nvPr/>
        </p:nvSpPr>
        <p:spPr>
          <a:xfrm xmlns:a="http://schemas.openxmlformats.org/drawingml/2006/main">
            <a:off x="10591800" y="4324350"/>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86"/>
          </a:bodyPr>
          <a:lstStyle xmlns:a="http://schemas.openxmlformats.org/drawingml/2006/main"/>
          <a:p xmlns:a="http://schemas.openxmlformats.org/drawingml/2006/main">
            <a:pPr algn="ctr">
              <a:lnSpc>
                <a:spcPct val="100000"/>
              </a:lnSpc>
              <a:buNone/>
              <a:defRPr sz="1350" b="0">
                <a:solidFill>
                  <a:srgbClr val="F7FAFC"/>
                </a:solidFill>
                <a:latin typeface="Aptos"/>
                <a:ea typeface="Aptos"/>
                <a:cs typeface="Aptos"/>
              </a:defRPr>
            </a:pPr>
            <a:r>
              <a:rPr sz="1350" b="0">
                <a:solidFill>
                  <a:srgbClr val="F7FAFC"/>
                </a:solidFill>
                <a:latin typeface="Aptos"/>
                <a:ea typeface="Aptos"/>
                <a:cs typeface="Aptos"/>
              </a:rPr>
              <a:t>compatible</a:t>
            </a:r>
          </a:p>
        </p:txBody>
      </p:sp>
      <p:sp>
        <p:nvSpPr>
          <p:cNvPr id="27" name="s3-contract">
            <a:extLst xmlns:a="http://schemas.openxmlformats.org/drawingml/2006/main">
              <a:ext uri="{FF2B5EF4-FFF2-40B4-BE49-F238E27FC236}">
                <a16:creationId xmlns:a16="http://schemas.microsoft.com/office/drawing/2014/main" id="{CC6B2F6C-8E39-456B-B768-FCB6814A8918}"/>
              </a:ext>
            </a:extLst>
          </p:cNvPr>
          <p:cNvSpPr>
            <a:spLocks xmlns:a="http://schemas.openxmlformats.org/drawingml/2006/main" noGrp="1"/>
          </p:cNvSpPr>
          <p:nvPr/>
        </p:nvSpPr>
        <p:spPr>
          <a:xfrm xmlns:a="http://schemas.openxmlformats.org/drawingml/2006/main">
            <a:off x="609600" y="5362575"/>
            <a:ext cx="10972800" cy="666750"/>
          </a:xfrm>
          <a:prstGeom xmlns:a="http://schemas.openxmlformats.org/drawingml/2006/main" prst="roundRect">
            <a:avLst>
              <a:gd name="adj" fmla="val 20000"/>
            </a:avLst>
          </a:prstGeom>
          <a:solidFill xmlns:a="http://schemas.openxmlformats.org/drawingml/2006/main">
            <a:srgbClr val="0A111A"/>
          </a:solidFill>
          <a:ln xmlns:a="http://schemas.openxmlformats.org/drawingml/2006/main" w="9525">
            <a:solidFill>
              <a:srgbClr val="4B586B"/>
            </a:solidFill>
            <a:prstDash val="solid"/>
          </a:ln>
        </p:spPr>
      </p:sp>
      <p:sp>
        <p:nvSpPr>
          <p:cNvPr id="28" name="s3-contract-text">
            <a:extLst xmlns:a="http://schemas.openxmlformats.org/drawingml/2006/main">
              <a:ext uri="{FF2B5EF4-FFF2-40B4-BE49-F238E27FC236}">
                <a16:creationId xmlns:a16="http://schemas.microsoft.com/office/drawing/2014/main" id="{8E186D9F-3E12-4EA0-9FC2-FEB6B50F5854}"/>
              </a:ext>
            </a:extLst>
          </p:cNvPr>
          <p:cNvSpPr>
            <a:spLocks xmlns:a="http://schemas.openxmlformats.org/drawingml/2006/main" noGrp="1"/>
          </p:cNvSpPr>
          <p:nvPr/>
        </p:nvSpPr>
        <p:spPr>
          <a:xfrm xmlns:a="http://schemas.openxmlformats.org/drawingml/2006/main">
            <a:off x="838200" y="5581650"/>
            <a:ext cx="1051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7FAFC"/>
                </a:solidFill>
                <a:latin typeface="Consolas"/>
                <a:ea typeface="Consolas"/>
                <a:cs typeface="Consolas"/>
              </a:defRPr>
            </a:pPr>
            <a:r>
              <a:rPr sz="1500" b="1">
                <a:solidFill>
                  <a:srgbClr val="F7FAFC"/>
                </a:solidFill>
                <a:latin typeface="Consolas"/>
                <a:ea typeface="Consolas"/>
                <a:cs typeface="Consolas"/>
              </a:rPr>
              <a:t>FAIL-OPEN   ·   SAME CLIENT   ·   NO PROPRIETARY AGENT SDK</a:t>
            </a:r>
          </a:p>
        </p:txBody>
      </p:sp>
      <p:sp>
        <p:nvSpPr>
          <p:cNvPr id="29" name="footer-3">
            <a:extLst xmlns:a="http://schemas.openxmlformats.org/drawingml/2006/main">
              <a:ext uri="{FF2B5EF4-FFF2-40B4-BE49-F238E27FC236}">
                <a16:creationId xmlns:a16="http://schemas.microsoft.com/office/drawing/2014/main" id="{44CEA4F1-E86D-4B8F-95E9-CFE7ABA631CC}"/>
              </a:ext>
            </a:extLst>
          </p:cNvPr>
          <p:cNvSpPr>
            <a:spLocks xmlns:a="http://schemas.openxmlformats.org/drawingml/2006/main" noGrp="1"/>
          </p:cNvSpPr>
          <p:nvPr/>
        </p:nvSpPr>
        <p:spPr>
          <a:xfrm xmlns:a="http://schemas.openxmlformats.org/drawingml/2006/main">
            <a:off x="609600" y="64008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B95A7"/>
                </a:solidFill>
                <a:latin typeface="Consolas"/>
                <a:ea typeface="Consolas"/>
                <a:cs typeface="Consolas"/>
              </a:defRPr>
            </a:pPr>
            <a:r>
              <a:rPr sz="1050" b="0">
                <a:solidFill>
                  <a:srgbClr val="8B95A7"/>
                </a:solidFill>
                <a:latin typeface="Consolas"/>
                <a:ea typeface="Consolas"/>
                <a:cs typeface="Consolas"/>
              </a:rPr>
              <a:t>OPENAI CHAT COMPLETIONS + ANTHROPIC MESSAGES SURFACES</a:t>
            </a:r>
          </a:p>
        </p:txBody>
      </p:sp>
    </p:spTree>
    <p:extLst>
      <p:ext uri="{BB962C8B-B14F-4D97-AF65-F5344CB8AC3E}">
        <p14:creationId xmlns:p14="http://schemas.microsoft.com/office/powerpoint/2010/main" val="189286044"/>
      </p:ext>
    </p:extLst>
  </p:cSld>
</p:sld>
</file>

<file path=ppt/slides/slide4.xml><?xml version="1.0" encoding="utf-8"?>
<p:sld xmlns:p="http://schemas.openxmlformats.org/presentationml/2006/main">
  <p:cSld>
    <p:bg>
      <p:bgPr>
        <a:solidFill xmlns:a="http://schemas.openxmlformats.org/drawingml/2006/main">
          <a:srgbClr val="070A0F"/>
        </a:solidFill>
      </p:bgPr>
    </p:bg>
    <p:spTree>
      <p:nvGrpSpPr>
        <p:cNvPr id="1" name=""/>
        <p:cNvGrpSpPr/>
        <p:nvPr/>
      </p:nvGrpSpPr>
      <p:grpSpPr>
        <a:xfrm xmlns:a="http://schemas.openxmlformats.org/drawingml/2006/main"/>
      </p:grpSpPr>
      <p:sp>
        <p:nvSpPr>
          <p:cNvPr id="17" name="eyebrow-4">
            <a:extLst xmlns:a="http://schemas.openxmlformats.org/drawingml/2006/main">
              <a:ext uri="{FF2B5EF4-FFF2-40B4-BE49-F238E27FC236}">
                <a16:creationId xmlns:a16="http://schemas.microsoft.com/office/drawing/2014/main" id="{A153287A-148B-4D42-B5A8-4120CC162EFE}"/>
              </a:ext>
            </a:extLst>
          </p:cNvPr>
          <p:cNvSpPr>
            <a:spLocks xmlns:a="http://schemas.openxmlformats.org/drawingml/2006/main" noGrp="1"/>
          </p:cNvSpPr>
          <p:nvPr/>
        </p:nvSpPr>
        <p:spPr>
          <a:xfrm xmlns:a="http://schemas.openxmlformats.org/drawingml/2006/main">
            <a:off x="609600" y="3619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9B5E8"/>
                </a:solidFill>
                <a:latin typeface="Consolas"/>
                <a:ea typeface="Consolas"/>
                <a:cs typeface="Consolas"/>
              </a:defRPr>
            </a:pPr>
            <a:r>
              <a:rPr sz="1200" b="1">
                <a:solidFill>
                  <a:srgbClr val="29B5E8"/>
                </a:solidFill>
                <a:latin typeface="Consolas"/>
                <a:ea typeface="Consolas"/>
                <a:cs typeface="Consolas"/>
              </a:rPr>
              <a:t>THE FAIR-RACE CONTRACT</a:t>
            </a:r>
          </a:p>
        </p:txBody>
      </p:sp>
      <p:sp>
        <p:nvSpPr>
          <p:cNvPr id="2" name="number-4">
            <a:extLst xmlns:a="http://schemas.openxmlformats.org/drawingml/2006/main">
              <a:ext uri="{FF2B5EF4-FFF2-40B4-BE49-F238E27FC236}">
                <a16:creationId xmlns:a16="http://schemas.microsoft.com/office/drawing/2014/main" id="{4598D91D-6917-456D-8933-5AC439167083}"/>
              </a:ext>
            </a:extLst>
          </p:cNvPr>
          <p:cNvSpPr>
            <a:spLocks xmlns:a="http://schemas.openxmlformats.org/drawingml/2006/main" noGrp="1"/>
          </p:cNvSpPr>
          <p:nvPr/>
        </p:nvSpPr>
        <p:spPr>
          <a:xfrm xmlns:a="http://schemas.openxmlformats.org/drawingml/2006/main">
            <a:off x="11087100" y="3619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8B95A7"/>
                </a:solidFill>
                <a:latin typeface="Consolas"/>
                <a:ea typeface="Consolas"/>
                <a:cs typeface="Consolas"/>
              </a:defRPr>
            </a:pPr>
            <a:r>
              <a:rPr sz="1200" b="1">
                <a:solidFill>
                  <a:srgbClr val="8B95A7"/>
                </a:solidFill>
                <a:latin typeface="Consolas"/>
                <a:ea typeface="Consolas"/>
                <a:cs typeface="Consolas"/>
              </a:rPr>
              <a:t>04</a:t>
            </a:r>
          </a:p>
        </p:txBody>
      </p:sp>
      <p:sp>
        <p:nvSpPr>
          <p:cNvPr id="3" name="s4-title">
            <a:extLst xmlns:a="http://schemas.openxmlformats.org/drawingml/2006/main">
              <a:ext uri="{FF2B5EF4-FFF2-40B4-BE49-F238E27FC236}">
                <a16:creationId xmlns:a16="http://schemas.microsoft.com/office/drawing/2014/main" id="{8A787B8B-B4E2-4254-A1DF-D743AB6BF57A}"/>
              </a:ext>
            </a:extLst>
          </p:cNvPr>
          <p:cNvSpPr>
            <a:spLocks xmlns:a="http://schemas.openxmlformats.org/drawingml/2006/main" noGrp="1"/>
          </p:cNvSpPr>
          <p:nvPr/>
        </p:nvSpPr>
        <p:spPr>
          <a:xfrm xmlns:a="http://schemas.openxmlformats.org/drawingml/2006/main">
            <a:off x="609600" y="838200"/>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675" b="1">
                <a:solidFill>
                  <a:srgbClr val="F7FAFC"/>
                </a:solidFill>
                <a:latin typeface="Aptos Display"/>
                <a:ea typeface="Aptos Display"/>
                <a:cs typeface="Aptos Display"/>
              </a:defRPr>
            </a:pPr>
            <a:r>
              <a:rPr sz="3675" b="1">
                <a:solidFill>
                  <a:srgbClr val="F7FAFC"/>
                </a:solidFill>
                <a:latin typeface="Aptos Display"/>
                <a:ea typeface="Aptos Display"/>
                <a:cs typeface="Aptos Display"/>
              </a:rPr>
              <a:t>LIGHTEN cleared its acceptance gate.</a:t>
            </a:r>
          </a:p>
        </p:txBody>
      </p:sp>
      <p:sp>
        <p:nvSpPr>
          <p:cNvPr id="4" name="s4-left">
            <a:extLst xmlns:a="http://schemas.openxmlformats.org/drawingml/2006/main">
              <a:ext uri="{FF2B5EF4-FFF2-40B4-BE49-F238E27FC236}">
                <a16:creationId xmlns:a16="http://schemas.microsoft.com/office/drawing/2014/main" id="{90430667-4E91-4296-AFA0-01AE9524EAB2}"/>
              </a:ext>
            </a:extLst>
          </p:cNvPr>
          <p:cNvSpPr>
            <a:spLocks xmlns:a="http://schemas.openxmlformats.org/drawingml/2006/main" noGrp="1"/>
          </p:cNvSpPr>
          <p:nvPr/>
        </p:nvSpPr>
        <p:spPr>
          <a:xfrm xmlns:a="http://schemas.openxmlformats.org/drawingml/2006/main">
            <a:off x="609600" y="1952625"/>
            <a:ext cx="5219700" cy="2381250"/>
          </a:xfrm>
          <a:prstGeom xmlns:a="http://schemas.openxmlformats.org/drawingml/2006/main" prst="roundRect">
            <a:avLst>
              <a:gd name="adj" fmla="val 8000"/>
            </a:avLst>
          </a:prstGeom>
          <a:solidFill xmlns:a="http://schemas.openxmlformats.org/drawingml/2006/main">
            <a:srgbClr val="0E1520"/>
          </a:solidFill>
          <a:ln xmlns:a="http://schemas.openxmlformats.org/drawingml/2006/main" w="19050">
            <a:solidFill>
              <a:srgbClr val="29B5E8"/>
            </a:solidFill>
            <a:prstDash val="solid"/>
          </a:ln>
        </p:spPr>
      </p:sp>
      <p:sp>
        <p:nvSpPr>
          <p:cNvPr id="5" name="s4-left-value">
            <a:extLst xmlns:a="http://schemas.openxmlformats.org/drawingml/2006/main">
              <a:ext uri="{FF2B5EF4-FFF2-40B4-BE49-F238E27FC236}">
                <a16:creationId xmlns:a16="http://schemas.microsoft.com/office/drawing/2014/main" id="{22B7612C-11DA-46F0-92E1-01E61DE746D6}"/>
              </a:ext>
            </a:extLst>
          </p:cNvPr>
          <p:cNvSpPr>
            <a:spLocks xmlns:a="http://schemas.openxmlformats.org/drawingml/2006/main" noGrp="1"/>
          </p:cNvSpPr>
          <p:nvPr/>
        </p:nvSpPr>
        <p:spPr>
          <a:xfrm xmlns:a="http://schemas.openxmlformats.org/drawingml/2006/main">
            <a:off x="876300" y="2305050"/>
            <a:ext cx="4686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ctr">
              <a:lnSpc>
                <a:spcPct val="100000"/>
              </a:lnSpc>
              <a:buNone/>
              <a:defRPr sz="5850" b="1">
                <a:solidFill>
                  <a:srgbClr val="29B5E8"/>
                </a:solidFill>
                <a:latin typeface="Aptos Display"/>
                <a:ea typeface="Aptos Display"/>
                <a:cs typeface="Aptos Display"/>
              </a:defRPr>
            </a:pPr>
            <a:r>
              <a:rPr sz="5850" b="1">
                <a:solidFill>
                  <a:srgbClr val="29B5E8"/>
                </a:solidFill>
                <a:latin typeface="Aptos Display"/>
                <a:ea typeface="Aptos Display"/>
                <a:cs typeface="Aptos Display"/>
              </a:rPr>
              <a:t>65.4%</a:t>
            </a:r>
          </a:p>
        </p:txBody>
      </p:sp>
      <p:sp>
        <p:nvSpPr>
          <p:cNvPr id="6" name="s4-left-label">
            <a:extLst xmlns:a="http://schemas.openxmlformats.org/drawingml/2006/main">
              <a:ext uri="{FF2B5EF4-FFF2-40B4-BE49-F238E27FC236}">
                <a16:creationId xmlns:a16="http://schemas.microsoft.com/office/drawing/2014/main" id="{8D593515-762E-4E73-963A-FF8ED121DFD7}"/>
              </a:ext>
            </a:extLst>
          </p:cNvPr>
          <p:cNvSpPr>
            <a:spLocks xmlns:a="http://schemas.openxmlformats.org/drawingml/2006/main" noGrp="1"/>
          </p:cNvSpPr>
          <p:nvPr/>
        </p:nvSpPr>
        <p:spPr>
          <a:xfrm xmlns:a="http://schemas.openxmlformats.org/drawingml/2006/main">
            <a:off x="876300" y="3286125"/>
            <a:ext cx="468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7FAFC"/>
                </a:solidFill>
                <a:latin typeface="Consolas"/>
                <a:ea typeface="Consolas"/>
                <a:cs typeface="Consolas"/>
              </a:defRPr>
            </a:pPr>
            <a:r>
              <a:rPr sz="1650" b="1">
                <a:solidFill>
                  <a:srgbClr val="F7FAFC"/>
                </a:solidFill>
                <a:latin typeface="Consolas"/>
                <a:ea typeface="Consolas"/>
                <a:cs typeface="Consolas"/>
              </a:rPr>
              <a:t>LESS TOOL-SCHEMA CONTEXT</a:t>
            </a:r>
          </a:p>
        </p:txBody>
      </p:sp>
      <p:sp>
        <p:nvSpPr>
          <p:cNvPr id="7" name="s4-left-sub">
            <a:extLst xmlns:a="http://schemas.openxmlformats.org/drawingml/2006/main">
              <a:ext uri="{FF2B5EF4-FFF2-40B4-BE49-F238E27FC236}">
                <a16:creationId xmlns:a16="http://schemas.microsoft.com/office/drawing/2014/main" id="{8C67A233-DD9B-41B6-9F50-44868AFDD76C}"/>
              </a:ext>
            </a:extLst>
          </p:cNvPr>
          <p:cNvSpPr>
            <a:spLocks xmlns:a="http://schemas.openxmlformats.org/drawingml/2006/main" noGrp="1"/>
          </p:cNvSpPr>
          <p:nvPr/>
        </p:nvSpPr>
        <p:spPr>
          <a:xfrm xmlns:a="http://schemas.openxmlformats.org/drawingml/2006/main">
            <a:off x="876300" y="378142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8B95A7"/>
                </a:solidFill>
                <a:latin typeface="Aptos"/>
                <a:ea typeface="Aptos"/>
                <a:cs typeface="Aptos"/>
              </a:defRPr>
            </a:pPr>
            <a:r>
              <a:rPr sz="1350" b="0">
                <a:solidFill>
                  <a:srgbClr val="8B95A7"/>
                </a:solidFill>
                <a:latin typeface="Aptos"/>
                <a:ea typeface="Aptos"/>
                <a:cs typeface="Aptos"/>
              </a:rPr>
              <a:t>1,497 → 518 est. tokens · current gate</a:t>
            </a:r>
          </a:p>
        </p:txBody>
      </p:sp>
      <p:sp>
        <p:nvSpPr>
          <p:cNvPr id="8" name="s4-right">
            <a:extLst xmlns:a="http://schemas.openxmlformats.org/drawingml/2006/main">
              <a:ext uri="{FF2B5EF4-FFF2-40B4-BE49-F238E27FC236}">
                <a16:creationId xmlns:a16="http://schemas.microsoft.com/office/drawing/2014/main" id="{B25684CF-7263-4808-8699-710A8B0AEB32}"/>
              </a:ext>
            </a:extLst>
          </p:cNvPr>
          <p:cNvSpPr>
            <a:spLocks xmlns:a="http://schemas.openxmlformats.org/drawingml/2006/main" noGrp="1"/>
          </p:cNvSpPr>
          <p:nvPr/>
        </p:nvSpPr>
        <p:spPr>
          <a:xfrm xmlns:a="http://schemas.openxmlformats.org/drawingml/2006/main">
            <a:off x="6362700" y="1952625"/>
            <a:ext cx="5219700" cy="2381250"/>
          </a:xfrm>
          <a:prstGeom xmlns:a="http://schemas.openxmlformats.org/drawingml/2006/main" prst="roundRect">
            <a:avLst>
              <a:gd name="adj" fmla="val 8000"/>
            </a:avLst>
          </a:prstGeom>
          <a:solidFill xmlns:a="http://schemas.openxmlformats.org/drawingml/2006/main">
            <a:srgbClr val="0E1520"/>
          </a:solidFill>
          <a:ln xmlns:a="http://schemas.openxmlformats.org/drawingml/2006/main" w="19050">
            <a:solidFill>
              <a:srgbClr val="B8FF5A"/>
            </a:solidFill>
            <a:prstDash val="solid"/>
          </a:ln>
        </p:spPr>
      </p:sp>
      <p:sp>
        <p:nvSpPr>
          <p:cNvPr id="9" name="s4-right-value">
            <a:extLst xmlns:a="http://schemas.openxmlformats.org/drawingml/2006/main">
              <a:ext uri="{FF2B5EF4-FFF2-40B4-BE49-F238E27FC236}">
                <a16:creationId xmlns:a16="http://schemas.microsoft.com/office/drawing/2014/main" id="{7EC9086C-CC4A-438D-B87D-37129AD9BBE4}"/>
              </a:ext>
            </a:extLst>
          </p:cNvPr>
          <p:cNvSpPr>
            <a:spLocks xmlns:a="http://schemas.openxmlformats.org/drawingml/2006/main" noGrp="1"/>
          </p:cNvSpPr>
          <p:nvPr/>
        </p:nvSpPr>
        <p:spPr>
          <a:xfrm xmlns:a="http://schemas.openxmlformats.org/drawingml/2006/main">
            <a:off x="6629400" y="2305050"/>
            <a:ext cx="4686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ctr">
              <a:lnSpc>
                <a:spcPct val="100000"/>
              </a:lnSpc>
              <a:buNone/>
              <a:defRPr sz="5850" b="1">
                <a:solidFill>
                  <a:srgbClr val="B8FF5A"/>
                </a:solidFill>
                <a:latin typeface="Aptos Display"/>
                <a:ea typeface="Aptos Display"/>
                <a:cs typeface="Aptos Display"/>
              </a:defRPr>
            </a:pPr>
            <a:r>
              <a:rPr sz="5850" b="1">
                <a:solidFill>
                  <a:srgbClr val="B8FF5A"/>
                </a:solidFill>
                <a:latin typeface="Aptos Display"/>
                <a:ea typeface="Aptos Display"/>
                <a:cs typeface="Aptos Display"/>
              </a:rPr>
              <a:t>15.2%</a:t>
            </a:r>
          </a:p>
        </p:txBody>
      </p:sp>
      <p:sp>
        <p:nvSpPr>
          <p:cNvPr id="10" name="s4-right-label">
            <a:extLst xmlns:a="http://schemas.openxmlformats.org/drawingml/2006/main">
              <a:ext uri="{FF2B5EF4-FFF2-40B4-BE49-F238E27FC236}">
                <a16:creationId xmlns:a16="http://schemas.microsoft.com/office/drawing/2014/main" id="{F17875DF-E5F2-41F6-9112-53084953B6A6}"/>
              </a:ext>
            </a:extLst>
          </p:cNvPr>
          <p:cNvSpPr>
            <a:spLocks xmlns:a="http://schemas.openxmlformats.org/drawingml/2006/main" noGrp="1"/>
          </p:cNvSpPr>
          <p:nvPr/>
        </p:nvSpPr>
        <p:spPr>
          <a:xfrm xmlns:a="http://schemas.openxmlformats.org/drawingml/2006/main">
            <a:off x="6629400" y="3286125"/>
            <a:ext cx="468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7FAFC"/>
                </a:solidFill>
                <a:latin typeface="Consolas"/>
                <a:ea typeface="Consolas"/>
                <a:cs typeface="Consolas"/>
              </a:defRPr>
            </a:pPr>
            <a:r>
              <a:rPr sz="1650" b="1">
                <a:solidFill>
                  <a:srgbClr val="F7FAFC"/>
                </a:solidFill>
                <a:latin typeface="Consolas"/>
                <a:ea typeface="Consolas"/>
                <a:cs typeface="Consolas"/>
              </a:rPr>
              <a:t>FEWER LIVE INPUT TOKENS</a:t>
            </a:r>
          </a:p>
        </p:txBody>
      </p:sp>
      <p:sp>
        <p:nvSpPr>
          <p:cNvPr id="11" name="s4-right-sub">
            <a:extLst xmlns:a="http://schemas.openxmlformats.org/drawingml/2006/main">
              <a:ext uri="{FF2B5EF4-FFF2-40B4-BE49-F238E27FC236}">
                <a16:creationId xmlns:a16="http://schemas.microsoft.com/office/drawing/2014/main" id="{2499EC3C-8EC2-4165-8CD0-06FBAD09E772}"/>
              </a:ext>
            </a:extLst>
          </p:cNvPr>
          <p:cNvSpPr>
            <a:spLocks xmlns:a="http://schemas.openxmlformats.org/drawingml/2006/main" noGrp="1"/>
          </p:cNvSpPr>
          <p:nvPr/>
        </p:nvSpPr>
        <p:spPr>
          <a:xfrm xmlns:a="http://schemas.openxmlformats.org/drawingml/2006/main">
            <a:off x="6629400" y="378142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8B95A7"/>
                </a:solidFill>
                <a:latin typeface="Aptos"/>
                <a:ea typeface="Aptos"/>
                <a:cs typeface="Aptos"/>
              </a:defRPr>
            </a:pPr>
            <a:r>
              <a:rPr sz="1350" b="0">
                <a:solidFill>
                  <a:srgbClr val="8B95A7"/>
                </a:solidFill>
                <a:latin typeface="Aptos"/>
                <a:ea typeface="Aptos"/>
                <a:cs typeface="Aptos"/>
              </a:rPr>
              <a:t>41,058 → 34,820 · one live A/B pair</a:t>
            </a:r>
          </a:p>
        </p:txBody>
      </p:sp>
      <p:sp>
        <p:nvSpPr>
          <p:cNvPr id="12" name="s4-thresholds">
            <a:extLst xmlns:a="http://schemas.openxmlformats.org/drawingml/2006/main">
              <a:ext uri="{FF2B5EF4-FFF2-40B4-BE49-F238E27FC236}">
                <a16:creationId xmlns:a16="http://schemas.microsoft.com/office/drawing/2014/main" id="{6A699623-A192-4819-9651-03B22C6BDF64}"/>
              </a:ext>
            </a:extLst>
          </p:cNvPr>
          <p:cNvSpPr>
            <a:spLocks xmlns:a="http://schemas.openxmlformats.org/drawingml/2006/main" noGrp="1"/>
          </p:cNvSpPr>
          <p:nvPr/>
        </p:nvSpPr>
        <p:spPr>
          <a:xfrm xmlns:a="http://schemas.openxmlformats.org/drawingml/2006/main">
            <a:off x="609600" y="4762500"/>
            <a:ext cx="10972800" cy="914400"/>
          </a:xfrm>
          <a:prstGeom xmlns:a="http://schemas.openxmlformats.org/drawingml/2006/main" prst="roundRect">
            <a:avLst>
              <a:gd name="adj" fmla="val 16667"/>
            </a:avLst>
          </a:prstGeom>
          <a:solidFill xmlns:a="http://schemas.openxmlformats.org/drawingml/2006/main">
            <a:srgbClr val="101A13"/>
          </a:solidFill>
          <a:ln xmlns:a="http://schemas.openxmlformats.org/drawingml/2006/main" w="9525">
            <a:solidFill>
              <a:srgbClr val="B8FF5A"/>
            </a:solidFill>
            <a:prstDash val="solid"/>
          </a:ln>
        </p:spPr>
      </p:sp>
      <p:sp>
        <p:nvSpPr>
          <p:cNvPr id="13" name="s4-threshold-label">
            <a:extLst xmlns:a="http://schemas.openxmlformats.org/drawingml/2006/main">
              <a:ext uri="{FF2B5EF4-FFF2-40B4-BE49-F238E27FC236}">
                <a16:creationId xmlns:a16="http://schemas.microsoft.com/office/drawing/2014/main" id="{9BE4F39D-5D8D-40D2-968C-EF6C586E30F3}"/>
              </a:ext>
            </a:extLst>
          </p:cNvPr>
          <p:cNvSpPr>
            <a:spLocks xmlns:a="http://schemas.openxmlformats.org/drawingml/2006/main" noGrp="1"/>
          </p:cNvSpPr>
          <p:nvPr/>
        </p:nvSpPr>
        <p:spPr>
          <a:xfrm xmlns:a="http://schemas.openxmlformats.org/drawingml/2006/main">
            <a:off x="838200" y="49530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B8FF5A"/>
                </a:solidFill>
                <a:latin typeface="Consolas"/>
                <a:ea typeface="Consolas"/>
                <a:cs typeface="Consolas"/>
              </a:defRPr>
            </a:pPr>
            <a:r>
              <a:rPr sz="1125" b="1">
                <a:solidFill>
                  <a:srgbClr val="B8FF5A"/>
                </a:solidFill>
                <a:latin typeface="Consolas"/>
                <a:ea typeface="Consolas"/>
                <a:cs typeface="Consolas"/>
              </a:rPr>
              <a:t>QUALITY GATE</a:t>
            </a:r>
          </a:p>
        </p:txBody>
      </p:sp>
      <p:sp>
        <p:nvSpPr>
          <p:cNvPr id="14" name="s4-threshold-values">
            <a:extLst xmlns:a="http://schemas.openxmlformats.org/drawingml/2006/main">
              <a:ext uri="{FF2B5EF4-FFF2-40B4-BE49-F238E27FC236}">
                <a16:creationId xmlns:a16="http://schemas.microsoft.com/office/drawing/2014/main" id="{39A8F592-E3CA-4542-BFD3-3606B89F8E15}"/>
              </a:ext>
            </a:extLst>
          </p:cNvPr>
          <p:cNvSpPr>
            <a:spLocks xmlns:a="http://schemas.openxmlformats.org/drawingml/2006/main" noGrp="1"/>
          </p:cNvSpPr>
          <p:nvPr/>
        </p:nvSpPr>
        <p:spPr>
          <a:xfrm xmlns:a="http://schemas.openxmlformats.org/drawingml/2006/main">
            <a:off x="838200" y="52959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F7FAFC"/>
                </a:solidFill>
                <a:latin typeface="Consolas"/>
                <a:ea typeface="Consolas"/>
                <a:cs typeface="Consolas"/>
              </a:defRPr>
            </a:pPr>
            <a:r>
              <a:rPr sz="1650" b="1">
                <a:solidFill>
                  <a:srgbClr val="F7FAFC"/>
                </a:solidFill>
                <a:latin typeface="Consolas"/>
                <a:ea typeface="Consolas"/>
                <a:cs typeface="Consolas"/>
              </a:rPr>
              <a:t>PARITY PASS · FIELD-EXACT FINAL REPORT</a:t>
            </a:r>
          </a:p>
        </p:txBody>
      </p:sp>
      <p:sp>
        <p:nvSpPr>
          <p:cNvPr id="15" name="s4-next">
            <a:extLst xmlns:a="http://schemas.openxmlformats.org/drawingml/2006/main">
              <a:ext uri="{FF2B5EF4-FFF2-40B4-BE49-F238E27FC236}">
                <a16:creationId xmlns:a16="http://schemas.microsoft.com/office/drawing/2014/main" id="{8615D1E2-5730-424B-B856-7119115BFAD9}"/>
              </a:ext>
            </a:extLst>
          </p:cNvPr>
          <p:cNvSpPr>
            <a:spLocks xmlns:a="http://schemas.openxmlformats.org/drawingml/2006/main" noGrp="1"/>
          </p:cNvSpPr>
          <p:nvPr/>
        </p:nvSpPr>
        <p:spPr>
          <a:xfrm xmlns:a="http://schemas.openxmlformats.org/drawingml/2006/main">
            <a:off x="7524750" y="5124450"/>
            <a:ext cx="3695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a:solidFill>
                  <a:srgbClr val="FFB84D"/>
                </a:solidFill>
                <a:latin typeface="Consolas"/>
                <a:ea typeface="Consolas"/>
                <a:cs typeface="Consolas"/>
              </a:defRPr>
            </a:pPr>
            <a:r>
              <a:rPr sz="1350" b="1">
                <a:solidFill>
                  <a:srgbClr val="FFB84D"/>
                </a:solidFill>
                <a:latin typeface="Consolas"/>
                <a:ea typeface="Consolas"/>
                <a:cs typeface="Consolas"/>
              </a:rPr>
              <a:t>NEXT: REPLAY ≥85% LOWER COST</a:t>
            </a:r>
          </a:p>
        </p:txBody>
      </p:sp>
      <p:sp>
        <p:nvSpPr>
          <p:cNvPr id="16" name="footer-4">
            <a:extLst xmlns:a="http://schemas.openxmlformats.org/drawingml/2006/main">
              <a:ext uri="{FF2B5EF4-FFF2-40B4-BE49-F238E27FC236}">
                <a16:creationId xmlns:a16="http://schemas.microsoft.com/office/drawing/2014/main" id="{75974722-3D4A-4481-9383-61C3400ED933}"/>
              </a:ext>
            </a:extLst>
          </p:cNvPr>
          <p:cNvSpPr>
            <a:spLocks xmlns:a="http://schemas.openxmlformats.org/drawingml/2006/main" noGrp="1"/>
          </p:cNvSpPr>
          <p:nvPr/>
        </p:nvSpPr>
        <p:spPr>
          <a:xfrm xmlns:a="http://schemas.openxmlformats.org/drawingml/2006/main">
            <a:off x="609600" y="64008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B95A7"/>
                </a:solidFill>
                <a:latin typeface="Consolas"/>
                <a:ea typeface="Consolas"/>
                <a:cs typeface="Consolas"/>
              </a:defRPr>
            </a:pPr>
            <a:r>
              <a:rPr sz="1050" b="0">
                <a:solidFill>
                  <a:srgbClr val="8B95A7"/>
                </a:solidFill>
                <a:latin typeface="Consolas"/>
                <a:ea typeface="Consolas"/>
                <a:cs typeface="Consolas"/>
              </a:rPr>
              <a:t>LIGHTEN GATE PASS · LIVE PAIR 09e4396 · DEEPSEEK-V4-FLASH · NOT A MEAN OR DOLLAR-COST CLAIM</a:t>
            </a:r>
          </a:p>
        </p:txBody>
      </p:sp>
    </p:spTree>
    <p:extLst>
      <p:ext uri="{BB962C8B-B14F-4D97-AF65-F5344CB8AC3E}">
        <p14:creationId xmlns:p14="http://schemas.microsoft.com/office/powerpoint/2010/main" val="865078611"/>
      </p:ext>
    </p:extLst>
  </p:cSld>
</p:sld>
</file>

<file path=ppt/slides/slide5.xml><?xml version="1.0" encoding="utf-8"?>
<p:sld xmlns:p="http://schemas.openxmlformats.org/presentationml/2006/main">
  <p:cSld>
    <p:bg>
      <p:bgPr>
        <a:solidFill xmlns:a="http://schemas.openxmlformats.org/drawingml/2006/main">
          <a:srgbClr val="070A0F"/>
        </a:solidFill>
      </p:bgPr>
    </p:bg>
    <p:spTree>
      <p:nvGrpSpPr>
        <p:cNvPr id="1" name=""/>
        <p:cNvGrpSpPr/>
        <p:nvPr/>
      </p:nvGrpSpPr>
      <p:grpSpPr>
        <a:xfrm xmlns:a="http://schemas.openxmlformats.org/drawingml/2006/main"/>
      </p:grpSpPr>
      <p:sp>
        <p:nvSpPr>
          <p:cNvPr id="17" name="eyebrow-5">
            <a:extLst xmlns:a="http://schemas.openxmlformats.org/drawingml/2006/main">
              <a:ext uri="{FF2B5EF4-FFF2-40B4-BE49-F238E27FC236}">
                <a16:creationId xmlns:a16="http://schemas.microsoft.com/office/drawing/2014/main" id="{5E20E51F-42D0-4497-815E-8AECF0C07A83}"/>
              </a:ext>
            </a:extLst>
          </p:cNvPr>
          <p:cNvSpPr>
            <a:spLocks xmlns:a="http://schemas.openxmlformats.org/drawingml/2006/main" noGrp="1"/>
          </p:cNvSpPr>
          <p:nvPr/>
        </p:nvSpPr>
        <p:spPr>
          <a:xfrm xmlns:a="http://schemas.openxmlformats.org/drawingml/2006/main">
            <a:off x="609600" y="3619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9B5E8"/>
                </a:solidFill>
                <a:latin typeface="Consolas"/>
                <a:ea typeface="Consolas"/>
                <a:cs typeface="Consolas"/>
              </a:defRPr>
            </a:pPr>
            <a:r>
              <a:rPr sz="1200" b="1">
                <a:solidFill>
                  <a:srgbClr val="29B5E8"/>
                </a:solidFill>
                <a:latin typeface="Consolas"/>
                <a:ea typeface="Consolas"/>
                <a:cs typeface="Consolas"/>
              </a:rPr>
              <a:t>THE PROOF</a:t>
            </a:r>
          </a:p>
        </p:txBody>
      </p:sp>
      <p:sp>
        <p:nvSpPr>
          <p:cNvPr id="2" name="number-5">
            <a:extLst xmlns:a="http://schemas.openxmlformats.org/drawingml/2006/main">
              <a:ext uri="{FF2B5EF4-FFF2-40B4-BE49-F238E27FC236}">
                <a16:creationId xmlns:a16="http://schemas.microsoft.com/office/drawing/2014/main" id="{1C5FF64B-DE81-463F-997D-EC3C462F6885}"/>
              </a:ext>
            </a:extLst>
          </p:cNvPr>
          <p:cNvSpPr>
            <a:spLocks xmlns:a="http://schemas.openxmlformats.org/drawingml/2006/main" noGrp="1"/>
          </p:cNvSpPr>
          <p:nvPr/>
        </p:nvSpPr>
        <p:spPr>
          <a:xfrm xmlns:a="http://schemas.openxmlformats.org/drawingml/2006/main">
            <a:off x="11087100" y="3619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8B95A7"/>
                </a:solidFill>
                <a:latin typeface="Consolas"/>
                <a:ea typeface="Consolas"/>
                <a:cs typeface="Consolas"/>
              </a:defRPr>
            </a:pPr>
            <a:r>
              <a:rPr sz="1200" b="1">
                <a:solidFill>
                  <a:srgbClr val="8B95A7"/>
                </a:solidFill>
                <a:latin typeface="Consolas"/>
                <a:ea typeface="Consolas"/>
                <a:cs typeface="Consolas"/>
              </a:rPr>
              <a:t>05</a:t>
            </a:r>
          </a:p>
        </p:txBody>
      </p:sp>
      <p:sp>
        <p:nvSpPr>
          <p:cNvPr id="3" name="s5-title">
            <a:extLst xmlns:a="http://schemas.openxmlformats.org/drawingml/2006/main">
              <a:ext uri="{FF2B5EF4-FFF2-40B4-BE49-F238E27FC236}">
                <a16:creationId xmlns:a16="http://schemas.microsoft.com/office/drawing/2014/main" id="{7F3DBF47-865B-43A3-AB4E-E3B383510510}"/>
              </a:ext>
            </a:extLst>
          </p:cNvPr>
          <p:cNvSpPr>
            <a:spLocks xmlns:a="http://schemas.openxmlformats.org/drawingml/2006/main" noGrp="1"/>
          </p:cNvSpPr>
          <p:nvPr/>
        </p:nvSpPr>
        <p:spPr>
          <a:xfrm xmlns:a="http://schemas.openxmlformats.org/drawingml/2006/main">
            <a:off x="609600" y="8382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600" b="1">
                <a:solidFill>
                  <a:srgbClr val="F7FAFC"/>
                </a:solidFill>
                <a:latin typeface="Aptos Display"/>
                <a:ea typeface="Aptos Display"/>
                <a:cs typeface="Aptos Display"/>
              </a:defRPr>
            </a:pPr>
            <a:r>
              <a:rPr sz="3600" b="1">
                <a:solidFill>
                  <a:srgbClr val="F7FAFC"/>
                </a:solidFill>
                <a:latin typeface="Aptos Display"/>
                <a:ea typeface="Aptos Display"/>
                <a:cs typeface="Aptos Display"/>
              </a:rPr>
              <a:t>DON'T TRUST THE PERCENTAGE. QUERY IT.</a:t>
            </a:r>
          </a:p>
        </p:txBody>
      </p:sp>
      <p:sp>
        <p:nvSpPr>
          <p:cNvPr id="4" name="s5-snow">
            <a:extLst xmlns:a="http://schemas.openxmlformats.org/drawingml/2006/main">
              <a:ext uri="{FF2B5EF4-FFF2-40B4-BE49-F238E27FC236}">
                <a16:creationId xmlns:a16="http://schemas.microsoft.com/office/drawing/2014/main" id="{0F61E447-5B73-431B-8CB9-B54E82E3B39B}"/>
              </a:ext>
            </a:extLst>
          </p:cNvPr>
          <p:cNvSpPr>
            <a:spLocks xmlns:a="http://schemas.openxmlformats.org/drawingml/2006/main" noGrp="1"/>
          </p:cNvSpPr>
          <p:nvPr/>
        </p:nvSpPr>
        <p:spPr>
          <a:xfrm xmlns:a="http://schemas.openxmlformats.org/drawingml/2006/main">
            <a:off x="609600" y="1885950"/>
            <a:ext cx="4743450" cy="3219450"/>
          </a:xfrm>
          <a:prstGeom xmlns:a="http://schemas.openxmlformats.org/drawingml/2006/main" prst="roundRect">
            <a:avLst>
              <a:gd name="adj" fmla="val 5917"/>
            </a:avLst>
          </a:prstGeom>
          <a:solidFill xmlns:a="http://schemas.openxmlformats.org/drawingml/2006/main">
            <a:srgbClr val="0E1520"/>
          </a:solidFill>
          <a:ln xmlns:a="http://schemas.openxmlformats.org/drawingml/2006/main" w="19050">
            <a:solidFill>
              <a:srgbClr val="29B5E8"/>
            </a:solidFill>
            <a:prstDash val="solid"/>
          </a:ln>
        </p:spPr>
      </p:sp>
      <p:sp>
        <p:nvSpPr>
          <p:cNvPr id="5" name="s5-snow-label">
            <a:extLst xmlns:a="http://schemas.openxmlformats.org/drawingml/2006/main">
              <a:ext uri="{FF2B5EF4-FFF2-40B4-BE49-F238E27FC236}">
                <a16:creationId xmlns:a16="http://schemas.microsoft.com/office/drawing/2014/main" id="{B994201D-2CFC-473F-81F0-8B5756BE2B7A}"/>
              </a:ext>
            </a:extLst>
          </p:cNvPr>
          <p:cNvSpPr>
            <a:spLocks xmlns:a="http://schemas.openxmlformats.org/drawingml/2006/main" noGrp="1"/>
          </p:cNvSpPr>
          <p:nvPr/>
        </p:nvSpPr>
        <p:spPr>
          <a:xfrm xmlns:a="http://schemas.openxmlformats.org/drawingml/2006/main">
            <a:off x="895350" y="21717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9B5E8"/>
                </a:solidFill>
                <a:latin typeface="Consolas"/>
                <a:ea typeface="Consolas"/>
                <a:cs typeface="Consolas"/>
              </a:defRPr>
            </a:pPr>
            <a:r>
              <a:rPr sz="1350" b="1">
                <a:solidFill>
                  <a:srgbClr val="29B5E8"/>
                </a:solidFill>
                <a:latin typeface="Consolas"/>
                <a:ea typeface="Consolas"/>
                <a:cs typeface="Consolas"/>
              </a:rPr>
              <a:t>SNOWFLAKE ECONOMICS</a:t>
            </a:r>
          </a:p>
        </p:txBody>
      </p:sp>
      <p:sp>
        <p:nvSpPr>
          <p:cNvPr id="6" name="s5-snow-fields">
            <a:extLst xmlns:a="http://schemas.openxmlformats.org/drawingml/2006/main">
              <a:ext uri="{FF2B5EF4-FFF2-40B4-BE49-F238E27FC236}">
                <a16:creationId xmlns:a16="http://schemas.microsoft.com/office/drawing/2014/main" id="{FE7D81AD-C811-410D-8414-7E394096B129}"/>
              </a:ext>
            </a:extLst>
          </p:cNvPr>
          <p:cNvSpPr>
            <a:spLocks xmlns:a="http://schemas.openxmlformats.org/drawingml/2006/main" noGrp="1"/>
          </p:cNvSpPr>
          <p:nvPr/>
        </p:nvSpPr>
        <p:spPr>
          <a:xfrm xmlns:a="http://schemas.openxmlformats.org/drawingml/2006/main">
            <a:off x="895350" y="2705100"/>
            <a:ext cx="390525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RUN_ID</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MODEL + BACKEND</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INPUT / OUTPUT TOKENS</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COST_USD</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WALL TIME</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INTERNAL OPTIMIZER STEPS</a:t>
            </a:r>
          </a:p>
        </p:txBody>
      </p:sp>
      <p:sp>
        <p:nvSpPr>
          <p:cNvPr id="7" name="s5-join">
            <a:extLst xmlns:a="http://schemas.openxmlformats.org/drawingml/2006/main">
              <a:ext uri="{FF2B5EF4-FFF2-40B4-BE49-F238E27FC236}">
                <a16:creationId xmlns:a16="http://schemas.microsoft.com/office/drawing/2014/main" id="{C2A0D95E-A01E-493F-9260-74DA2FB16F18}"/>
              </a:ext>
            </a:extLst>
          </p:cNvPr>
          <p:cNvSpPr>
            <a:spLocks xmlns:a="http://schemas.openxmlformats.org/drawingml/2006/main" noGrp="1"/>
          </p:cNvSpPr>
          <p:nvPr/>
        </p:nvSpPr>
        <p:spPr>
          <a:xfrm xmlns:a="http://schemas.openxmlformats.org/drawingml/2006/main">
            <a:off x="5581650" y="2981325"/>
            <a:ext cx="1028700" cy="1028700"/>
          </a:xfrm>
          <a:prstGeom xmlns:a="http://schemas.openxmlformats.org/drawingml/2006/main" prst="roundRect">
            <a:avLst>
              <a:gd name="adj" fmla="val 50000"/>
            </a:avLst>
          </a:prstGeom>
          <a:solidFill xmlns:a="http://schemas.openxmlformats.org/drawingml/2006/main">
            <a:srgbClr val="111C29"/>
          </a:solidFill>
          <a:ln xmlns:a="http://schemas.openxmlformats.org/drawingml/2006/main" w="19050">
            <a:solidFill>
              <a:srgbClr val="B8FF5A"/>
            </a:solidFill>
            <a:prstDash val="solid"/>
          </a:ln>
        </p:spPr>
      </p:sp>
      <p:sp>
        <p:nvSpPr>
          <p:cNvPr id="8" name="s5-join-text">
            <a:extLst xmlns:a="http://schemas.openxmlformats.org/drawingml/2006/main">
              <a:ext uri="{FF2B5EF4-FFF2-40B4-BE49-F238E27FC236}">
                <a16:creationId xmlns:a16="http://schemas.microsoft.com/office/drawing/2014/main" id="{CA1A1ED0-DCBF-43F5-8C7D-64DC83C84C5E}"/>
              </a:ext>
            </a:extLst>
          </p:cNvPr>
          <p:cNvSpPr>
            <a:spLocks xmlns:a="http://schemas.openxmlformats.org/drawingml/2006/main" noGrp="1"/>
          </p:cNvSpPr>
          <p:nvPr/>
        </p:nvSpPr>
        <p:spPr>
          <a:xfrm xmlns:a="http://schemas.openxmlformats.org/drawingml/2006/main">
            <a:off x="5695950" y="3248025"/>
            <a:ext cx="800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B8FF5A"/>
                </a:solidFill>
                <a:latin typeface="Consolas"/>
                <a:ea typeface="Consolas"/>
                <a:cs typeface="Consolas"/>
              </a:defRPr>
            </a:pPr>
            <a:r>
              <a:rPr sz="1350" b="1">
                <a:solidFill>
                  <a:srgbClr val="B8FF5A"/>
                </a:solidFill>
                <a:latin typeface="Consolas"/>
                <a:ea typeface="Consolas"/>
                <a:cs typeface="Consolas"/>
              </a:rPr>
              <a:t>SAME</a:t>
            </a:r>
          </a:p>
          <a:p xmlns:a="http://schemas.openxmlformats.org/drawingml/2006/main">
            <a:pPr algn="ctr">
              <a:lnSpc>
                <a:spcPct val="100000"/>
              </a:lnSpc>
              <a:buNone/>
              <a:defRPr sz="1350" b="1">
                <a:solidFill>
                  <a:srgbClr val="B8FF5A"/>
                </a:solidFill>
                <a:latin typeface="Consolas"/>
                <a:ea typeface="Consolas"/>
                <a:cs typeface="Consolas"/>
              </a:defRPr>
            </a:pPr>
            <a:r>
              <a:rPr sz="1350" b="1">
                <a:solidFill>
                  <a:srgbClr val="B8FF5A"/>
                </a:solidFill>
                <a:latin typeface="Consolas"/>
                <a:ea typeface="Consolas"/>
                <a:cs typeface="Consolas"/>
              </a:rPr>
              <a:t>RUN ID</a:t>
            </a:r>
          </a:p>
        </p:txBody>
      </p:sp>
      <p:sp>
        <p:nvSpPr>
          <p:cNvPr id="9" name="s5-line-left">
            <a:extLst xmlns:a="http://schemas.openxmlformats.org/drawingml/2006/main">
              <a:ext uri="{FF2B5EF4-FFF2-40B4-BE49-F238E27FC236}">
                <a16:creationId xmlns:a16="http://schemas.microsoft.com/office/drawing/2014/main" id="{651E704E-A286-4DD7-976C-66BA46BE3A50}"/>
              </a:ext>
            </a:extLst>
          </p:cNvPr>
          <p:cNvSpPr>
            <a:spLocks xmlns:a="http://schemas.openxmlformats.org/drawingml/2006/main" noGrp="1"/>
          </p:cNvSpPr>
          <p:nvPr/>
        </p:nvSpPr>
        <p:spPr>
          <a:xfrm xmlns:a="http://schemas.openxmlformats.org/drawingml/2006/main">
            <a:off x="5353050" y="3495675"/>
            <a:ext cx="228600" cy="0"/>
          </a:xfrm>
          <a:prstGeom xmlns:a="http://schemas.openxmlformats.org/drawingml/2006/main" prst="line">
            <a:avLst/>
          </a:prstGeom>
          <a:noFill xmlns:a="http://schemas.openxmlformats.org/drawingml/2006/main"/>
          <a:ln xmlns:a="http://schemas.openxmlformats.org/drawingml/2006/main" w="19050">
            <a:solidFill>
              <a:srgbClr val="8B95A7"/>
            </a:solidFill>
            <a:prstDash val="solid"/>
          </a:ln>
        </p:spPr>
      </p:sp>
      <p:sp>
        <p:nvSpPr>
          <p:cNvPr id="10" name="s5-line-right">
            <a:extLst xmlns:a="http://schemas.openxmlformats.org/drawingml/2006/main">
              <a:ext uri="{FF2B5EF4-FFF2-40B4-BE49-F238E27FC236}">
                <a16:creationId xmlns:a16="http://schemas.microsoft.com/office/drawing/2014/main" id="{40350F7B-F792-4B82-AF0B-2696C99A03F8}"/>
              </a:ext>
            </a:extLst>
          </p:cNvPr>
          <p:cNvSpPr>
            <a:spLocks xmlns:a="http://schemas.openxmlformats.org/drawingml/2006/main" noGrp="1"/>
          </p:cNvSpPr>
          <p:nvPr/>
        </p:nvSpPr>
        <p:spPr>
          <a:xfrm xmlns:a="http://schemas.openxmlformats.org/drawingml/2006/main">
            <a:off x="6610350" y="3495675"/>
            <a:ext cx="228600" cy="0"/>
          </a:xfrm>
          <a:prstGeom xmlns:a="http://schemas.openxmlformats.org/drawingml/2006/main" prst="line">
            <a:avLst/>
          </a:prstGeom>
          <a:noFill xmlns:a="http://schemas.openxmlformats.org/drawingml/2006/main"/>
          <a:ln xmlns:a="http://schemas.openxmlformats.org/drawingml/2006/main" w="19050">
            <a:solidFill>
              <a:srgbClr val="8B95A7"/>
            </a:solidFill>
            <a:prstDash val="solid"/>
          </a:ln>
        </p:spPr>
      </p:sp>
      <p:sp>
        <p:nvSpPr>
          <p:cNvPr id="11" name="s5-report">
            <a:extLst xmlns:a="http://schemas.openxmlformats.org/drawingml/2006/main">
              <a:ext uri="{FF2B5EF4-FFF2-40B4-BE49-F238E27FC236}">
                <a16:creationId xmlns:a16="http://schemas.microsoft.com/office/drawing/2014/main" id="{68D9C8A9-F075-43D7-9520-313D15BA3B85}"/>
              </a:ext>
            </a:extLst>
          </p:cNvPr>
          <p:cNvSpPr>
            <a:spLocks xmlns:a="http://schemas.openxmlformats.org/drawingml/2006/main" noGrp="1"/>
          </p:cNvSpPr>
          <p:nvPr/>
        </p:nvSpPr>
        <p:spPr>
          <a:xfrm xmlns:a="http://schemas.openxmlformats.org/drawingml/2006/main">
            <a:off x="6838950" y="1885950"/>
            <a:ext cx="4743450" cy="3219450"/>
          </a:xfrm>
          <a:prstGeom xmlns:a="http://schemas.openxmlformats.org/drawingml/2006/main" prst="roundRect">
            <a:avLst>
              <a:gd name="adj" fmla="val 5917"/>
            </a:avLst>
          </a:prstGeom>
          <a:solidFill xmlns:a="http://schemas.openxmlformats.org/drawingml/2006/main">
            <a:srgbClr val="0E1520"/>
          </a:solidFill>
          <a:ln xmlns:a="http://schemas.openxmlformats.org/drawingml/2006/main" w="19050">
            <a:solidFill>
              <a:srgbClr val="B8FF5A"/>
            </a:solidFill>
            <a:prstDash val="solid"/>
          </a:ln>
        </p:spPr>
      </p:sp>
      <p:sp>
        <p:nvSpPr>
          <p:cNvPr id="12" name="s5-report-label">
            <a:extLst xmlns:a="http://schemas.openxmlformats.org/drawingml/2006/main">
              <a:ext uri="{FF2B5EF4-FFF2-40B4-BE49-F238E27FC236}">
                <a16:creationId xmlns:a16="http://schemas.microsoft.com/office/drawing/2014/main" id="{5D57E566-03AE-437E-B36C-959B424B884C}"/>
              </a:ext>
            </a:extLst>
          </p:cNvPr>
          <p:cNvSpPr>
            <a:spLocks xmlns:a="http://schemas.openxmlformats.org/drawingml/2006/main" noGrp="1"/>
          </p:cNvSpPr>
          <p:nvPr/>
        </p:nvSpPr>
        <p:spPr>
          <a:xfrm xmlns:a="http://schemas.openxmlformats.org/drawingml/2006/main">
            <a:off x="7124700" y="21717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B8FF5A"/>
                </a:solidFill>
                <a:latin typeface="Consolas"/>
                <a:ea typeface="Consolas"/>
                <a:cs typeface="Consolas"/>
              </a:defRPr>
            </a:pPr>
            <a:r>
              <a:rPr sz="1350" b="1">
                <a:solidFill>
                  <a:srgbClr val="B8FF5A"/>
                </a:solidFill>
                <a:latin typeface="Consolas"/>
                <a:ea typeface="Consolas"/>
                <a:cs typeface="Consolas"/>
              </a:rPr>
              <a:t>SIGNED DEMO REPORT</a:t>
            </a:r>
          </a:p>
        </p:txBody>
      </p:sp>
      <p:sp>
        <p:nvSpPr>
          <p:cNvPr id="13" name="s5-report-fields">
            <a:extLst xmlns:a="http://schemas.openxmlformats.org/drawingml/2006/main">
              <a:ext uri="{FF2B5EF4-FFF2-40B4-BE49-F238E27FC236}">
                <a16:creationId xmlns:a16="http://schemas.microsoft.com/office/drawing/2014/main" id="{FD2F9713-8AA1-41C5-9272-CCE0C44CA90B}"/>
              </a:ext>
            </a:extLst>
          </p:cNvPr>
          <p:cNvSpPr>
            <a:spLocks xmlns:a="http://schemas.openxmlformats.org/drawingml/2006/main" noGrp="1"/>
          </p:cNvSpPr>
          <p:nvPr/>
        </p:nvSpPr>
        <p:spPr>
          <a:xfrm xmlns:a="http://schemas.openxmlformats.org/drawingml/2006/main">
            <a:off x="7124700" y="2705100"/>
            <a:ext cx="390525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SIMULATED: FALSE</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TASK + FOUR CELLS</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PARITY: PASS</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ACCURACY: PASS</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MODEL</a:t>
            </a:r>
          </a:p>
          <a:p xmlns:a="http://schemas.openxmlformats.org/drawingml/2006/main">
            <a:pPr algn="l">
              <a:lnSpc>
                <a:spcPct val="118000"/>
              </a:lnSpc>
              <a:buNone/>
              <a:defRPr sz="1875" b="1">
                <a:solidFill>
                  <a:srgbClr val="F7FAFC"/>
                </a:solidFill>
                <a:latin typeface="Consolas"/>
                <a:ea typeface="Consolas"/>
                <a:cs typeface="Consolas"/>
              </a:defRPr>
            </a:pPr>
            <a:r>
              <a:rPr sz="1875" b="1">
                <a:solidFill>
                  <a:srgbClr val="F7FAFC"/>
                </a:solidFill>
                <a:latin typeface="Consolas"/>
                <a:ea typeface="Consolas"/>
                <a:cs typeface="Consolas"/>
              </a:rPr>
              <a:t>GIT SHA</a:t>
            </a:r>
          </a:p>
        </p:txBody>
      </p:sp>
      <p:sp>
        <p:nvSpPr>
          <p:cNvPr id="14" name="s5-bottom">
            <a:extLst xmlns:a="http://schemas.openxmlformats.org/drawingml/2006/main">
              <a:ext uri="{FF2B5EF4-FFF2-40B4-BE49-F238E27FC236}">
                <a16:creationId xmlns:a16="http://schemas.microsoft.com/office/drawing/2014/main" id="{2463931B-DE10-485A-B97B-CA0262A0A537}"/>
              </a:ext>
            </a:extLst>
          </p:cNvPr>
          <p:cNvSpPr>
            <a:spLocks xmlns:a="http://schemas.openxmlformats.org/drawingml/2006/main" noGrp="1"/>
          </p:cNvSpPr>
          <p:nvPr/>
        </p:nvSpPr>
        <p:spPr>
          <a:xfrm xmlns:a="http://schemas.openxmlformats.org/drawingml/2006/main">
            <a:off x="609600" y="5505450"/>
            <a:ext cx="10972800" cy="571500"/>
          </a:xfrm>
          <a:prstGeom xmlns:a="http://schemas.openxmlformats.org/drawingml/2006/main" prst="roundRect">
            <a:avLst>
              <a:gd name="adj" fmla="val 23333"/>
            </a:avLst>
          </a:prstGeom>
          <a:solidFill xmlns:a="http://schemas.openxmlformats.org/drawingml/2006/main">
            <a:srgbClr val="0A111A"/>
          </a:solidFill>
          <a:ln xmlns:a="http://schemas.openxmlformats.org/drawingml/2006/main" w="9525">
            <a:solidFill>
              <a:srgbClr val="4B586B"/>
            </a:solidFill>
            <a:prstDash val="solid"/>
          </a:ln>
        </p:spPr>
      </p:sp>
      <p:sp>
        <p:nvSpPr>
          <p:cNvPr id="15" name="s5-bottom-text">
            <a:extLst xmlns:a="http://schemas.openxmlformats.org/drawingml/2006/main">
              <a:ext uri="{FF2B5EF4-FFF2-40B4-BE49-F238E27FC236}">
                <a16:creationId xmlns:a16="http://schemas.microsoft.com/office/drawing/2014/main" id="{37171F21-19D2-4FDA-B3D9-E9EE541C33AF}"/>
              </a:ext>
            </a:extLst>
          </p:cNvPr>
          <p:cNvSpPr>
            <a:spLocks xmlns:a="http://schemas.openxmlformats.org/drawingml/2006/main" noGrp="1"/>
          </p:cNvSpPr>
          <p:nvPr/>
        </p:nvSpPr>
        <p:spPr>
          <a:xfrm xmlns:a="http://schemas.openxmlformats.org/drawingml/2006/main">
            <a:off x="838200" y="5686425"/>
            <a:ext cx="1051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7FAFC"/>
                </a:solidFill>
                <a:latin typeface="Consolas"/>
                <a:ea typeface="Consolas"/>
                <a:cs typeface="Consolas"/>
              </a:defRPr>
            </a:pPr>
            <a:r>
              <a:rPr sz="1500" b="1">
                <a:solidFill>
                  <a:srgbClr val="F7FAFC"/>
                </a:solidFill>
                <a:latin typeface="Consolas"/>
                <a:ea typeface="Consolas"/>
                <a:cs typeface="Consolas"/>
              </a:rPr>
              <a:t>COST PER SUCCESSFUL TASK — NOT MERELY COST PER MILLION TOKENS</a:t>
            </a:r>
          </a:p>
        </p:txBody>
      </p:sp>
      <p:sp>
        <p:nvSpPr>
          <p:cNvPr id="16" name="footer-5">
            <a:extLst xmlns:a="http://schemas.openxmlformats.org/drawingml/2006/main">
              <a:ext uri="{FF2B5EF4-FFF2-40B4-BE49-F238E27FC236}">
                <a16:creationId xmlns:a16="http://schemas.microsoft.com/office/drawing/2014/main" id="{1E8EA2CD-288A-41EC-B5DE-AA7EA2153214}"/>
              </a:ext>
            </a:extLst>
          </p:cNvPr>
          <p:cNvSpPr>
            <a:spLocks xmlns:a="http://schemas.openxmlformats.org/drawingml/2006/main" noGrp="1"/>
          </p:cNvSpPr>
          <p:nvPr/>
        </p:nvSpPr>
        <p:spPr>
          <a:xfrm xmlns:a="http://schemas.openxmlformats.org/drawingml/2006/main">
            <a:off x="609600" y="64008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B95A7"/>
                </a:solidFill>
                <a:latin typeface="Consolas"/>
                <a:ea typeface="Consolas"/>
                <a:cs typeface="Consolas"/>
              </a:defRPr>
            </a:pPr>
            <a:r>
              <a:rPr sz="1050" b="0">
                <a:solidFill>
                  <a:srgbClr val="8B95A7"/>
                </a:solidFill>
                <a:latin typeface="Consolas"/>
                <a:ea typeface="Consolas"/>
                <a:cs typeface="Consolas"/>
              </a:rPr>
              <a:t>SNOWFLAKE = RUN/STEP ECONOMICS · REPORT = PARITY/ACCURACY VERDICT</a:t>
            </a:r>
          </a:p>
        </p:txBody>
      </p:sp>
    </p:spTree>
    <p:extLst>
      <p:ext uri="{BB962C8B-B14F-4D97-AF65-F5344CB8AC3E}">
        <p14:creationId xmlns:p14="http://schemas.microsoft.com/office/powerpoint/2010/main" val="446858820"/>
      </p:ext>
    </p:extLst>
  </p:cSld>
</p:sld>
</file>

<file path=ppt/slides/slide6.xml><?xml version="1.0" encoding="utf-8"?>
<p:sld xmlns:p="http://schemas.openxmlformats.org/presentationml/2006/main">
  <p:cSld>
    <p:bg>
      <p:bgPr>
        <a:solidFill xmlns:a="http://schemas.openxmlformats.org/drawingml/2006/main">
          <a:srgbClr val="070A0F"/>
        </a:solidFill>
      </p:bgPr>
    </p:bg>
    <p:spTree>
      <p:nvGrpSpPr>
        <p:cNvPr id="1" name=""/>
        <p:cNvGrpSpPr/>
        <p:nvPr/>
      </p:nvGrpSpPr>
      <p:grpSpPr>
        <a:xfrm xmlns:a="http://schemas.openxmlformats.org/drawingml/2006/main"/>
      </p:grpSpPr>
      <p:sp>
        <p:nvSpPr>
          <p:cNvPr id="22" name="eyebrow-6">
            <a:extLst xmlns:a="http://schemas.openxmlformats.org/drawingml/2006/main">
              <a:ext uri="{FF2B5EF4-FFF2-40B4-BE49-F238E27FC236}">
                <a16:creationId xmlns:a16="http://schemas.microsoft.com/office/drawing/2014/main" id="{0180D821-7FBB-46E4-9662-E327058CF828}"/>
              </a:ext>
            </a:extLst>
          </p:cNvPr>
          <p:cNvSpPr>
            <a:spLocks xmlns:a="http://schemas.openxmlformats.org/drawingml/2006/main" noGrp="1"/>
          </p:cNvSpPr>
          <p:nvPr/>
        </p:nvSpPr>
        <p:spPr>
          <a:xfrm xmlns:a="http://schemas.openxmlformats.org/drawingml/2006/main">
            <a:off x="609600" y="3619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9B5E8"/>
                </a:solidFill>
                <a:latin typeface="Consolas"/>
                <a:ea typeface="Consolas"/>
                <a:cs typeface="Consolas"/>
              </a:defRPr>
            </a:pPr>
            <a:r>
              <a:rPr sz="1200" b="1">
                <a:solidFill>
                  <a:srgbClr val="29B5E8"/>
                </a:solidFill>
                <a:latin typeface="Consolas"/>
                <a:ea typeface="Consolas"/>
                <a:cs typeface="Consolas"/>
              </a:rPr>
              <a:t>THE ENTERPRISE MOTION</a:t>
            </a:r>
          </a:p>
        </p:txBody>
      </p:sp>
      <p:sp>
        <p:nvSpPr>
          <p:cNvPr id="2" name="number-6">
            <a:extLst xmlns:a="http://schemas.openxmlformats.org/drawingml/2006/main">
              <a:ext uri="{FF2B5EF4-FFF2-40B4-BE49-F238E27FC236}">
                <a16:creationId xmlns:a16="http://schemas.microsoft.com/office/drawing/2014/main" id="{3ADEE054-C0DE-4E25-995A-FC7D68F383C0}"/>
              </a:ext>
            </a:extLst>
          </p:cNvPr>
          <p:cNvSpPr>
            <a:spLocks xmlns:a="http://schemas.openxmlformats.org/drawingml/2006/main" noGrp="1"/>
          </p:cNvSpPr>
          <p:nvPr/>
        </p:nvSpPr>
        <p:spPr>
          <a:xfrm xmlns:a="http://schemas.openxmlformats.org/drawingml/2006/main">
            <a:off x="11087100" y="3619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8B95A7"/>
                </a:solidFill>
                <a:latin typeface="Consolas"/>
                <a:ea typeface="Consolas"/>
                <a:cs typeface="Consolas"/>
              </a:defRPr>
            </a:pPr>
            <a:r>
              <a:rPr sz="1200" b="1">
                <a:solidFill>
                  <a:srgbClr val="8B95A7"/>
                </a:solidFill>
                <a:latin typeface="Consolas"/>
                <a:ea typeface="Consolas"/>
                <a:cs typeface="Consolas"/>
              </a:rPr>
              <a:t>06</a:t>
            </a:r>
          </a:p>
        </p:txBody>
      </p:sp>
      <p:sp>
        <p:nvSpPr>
          <p:cNvPr id="3" name="s6-title">
            <a:extLst xmlns:a="http://schemas.openxmlformats.org/drawingml/2006/main">
              <a:ext uri="{FF2B5EF4-FFF2-40B4-BE49-F238E27FC236}">
                <a16:creationId xmlns:a16="http://schemas.microsoft.com/office/drawing/2014/main" id="{E5378CA1-FFC1-4ED8-8647-1E7E467A68C7}"/>
              </a:ext>
            </a:extLst>
          </p:cNvPr>
          <p:cNvSpPr>
            <a:spLocks xmlns:a="http://schemas.openxmlformats.org/drawingml/2006/main" noGrp="1"/>
          </p:cNvSpPr>
          <p:nvPr/>
        </p:nvSpPr>
        <p:spPr>
          <a:xfrm xmlns:a="http://schemas.openxmlformats.org/drawingml/2006/main">
            <a:off x="609600" y="8382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675" b="1">
                <a:solidFill>
                  <a:srgbClr val="F7FAFC"/>
                </a:solidFill>
                <a:latin typeface="Aptos Display"/>
                <a:ea typeface="Aptos Display"/>
                <a:cs typeface="Aptos Display"/>
              </a:defRPr>
            </a:pPr>
            <a:r>
              <a:rPr sz="3675" b="1">
                <a:solidFill>
                  <a:srgbClr val="F7FAFC"/>
                </a:solidFill>
                <a:latin typeface="Aptos Display"/>
                <a:ea typeface="Aptos Display"/>
                <a:cs typeface="Aptos Display"/>
              </a:rPr>
              <a:t>Land with one workflow. Expand with proof.</a:t>
            </a:r>
          </a:p>
        </p:txBody>
      </p:sp>
      <p:sp>
        <p:nvSpPr>
          <p:cNvPr id="4" name="s6-stage-0">
            <a:extLst xmlns:a="http://schemas.openxmlformats.org/drawingml/2006/main">
              <a:ext uri="{FF2B5EF4-FFF2-40B4-BE49-F238E27FC236}">
                <a16:creationId xmlns:a16="http://schemas.microsoft.com/office/drawing/2014/main" id="{9BB91E85-F5C3-4E64-948C-50C790530F93}"/>
              </a:ext>
            </a:extLst>
          </p:cNvPr>
          <p:cNvSpPr>
            <a:spLocks xmlns:a="http://schemas.openxmlformats.org/drawingml/2006/main" noGrp="1"/>
          </p:cNvSpPr>
          <p:nvPr/>
        </p:nvSpPr>
        <p:spPr>
          <a:xfrm xmlns:a="http://schemas.openxmlformats.org/drawingml/2006/main">
            <a:off x="609600" y="2000250"/>
            <a:ext cx="3143250" cy="1524000"/>
          </a:xfrm>
          <a:prstGeom xmlns:a="http://schemas.openxmlformats.org/drawingml/2006/main" prst="roundRect">
            <a:avLst>
              <a:gd name="adj" fmla="val 12500"/>
            </a:avLst>
          </a:prstGeom>
          <a:solidFill xmlns:a="http://schemas.openxmlformats.org/drawingml/2006/main">
            <a:srgbClr val="0E1520"/>
          </a:solidFill>
          <a:ln xmlns:a="http://schemas.openxmlformats.org/drawingml/2006/main" w="19050">
            <a:solidFill>
              <a:srgbClr val="29B5E8"/>
            </a:solidFill>
            <a:prstDash val="solid"/>
          </a:ln>
        </p:spPr>
      </p:sp>
      <p:sp>
        <p:nvSpPr>
          <p:cNvPr id="5" name="s6-stage-title-0">
            <a:extLst xmlns:a="http://schemas.openxmlformats.org/drawingml/2006/main">
              <a:ext uri="{FF2B5EF4-FFF2-40B4-BE49-F238E27FC236}">
                <a16:creationId xmlns:a16="http://schemas.microsoft.com/office/drawing/2014/main" id="{F6196768-C5A3-405D-89E8-DB7CF097D776}"/>
              </a:ext>
            </a:extLst>
          </p:cNvPr>
          <p:cNvSpPr>
            <a:spLocks xmlns:a="http://schemas.openxmlformats.org/drawingml/2006/main" noGrp="1"/>
          </p:cNvSpPr>
          <p:nvPr/>
        </p:nvSpPr>
        <p:spPr>
          <a:xfrm xmlns:a="http://schemas.openxmlformats.org/drawingml/2006/main">
            <a:off x="838200" y="232410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29B5E8"/>
                </a:solidFill>
                <a:latin typeface="Consolas"/>
                <a:ea typeface="Consolas"/>
                <a:cs typeface="Consolas"/>
              </a:defRPr>
            </a:pPr>
            <a:r>
              <a:rPr sz="1575" b="1">
                <a:solidFill>
                  <a:srgbClr val="29B5E8"/>
                </a:solidFill>
                <a:latin typeface="Consolas"/>
                <a:ea typeface="Consolas"/>
                <a:cs typeface="Consolas"/>
              </a:rPr>
              <a:t>ONE WORKFLOW</a:t>
            </a:r>
          </a:p>
        </p:txBody>
      </p:sp>
      <p:sp>
        <p:nvSpPr>
          <p:cNvPr id="6" name="s6-stage-sub-0">
            <a:extLst xmlns:a="http://schemas.openxmlformats.org/drawingml/2006/main">
              <a:ext uri="{FF2B5EF4-FFF2-40B4-BE49-F238E27FC236}">
                <a16:creationId xmlns:a16="http://schemas.microsoft.com/office/drawing/2014/main" id="{DE501E45-B602-4373-B5B2-C5D5ED9F21C8}"/>
              </a:ext>
            </a:extLst>
          </p:cNvPr>
          <p:cNvSpPr>
            <a:spLocks xmlns:a="http://schemas.openxmlformats.org/drawingml/2006/main" noGrp="1"/>
          </p:cNvSpPr>
          <p:nvPr/>
        </p:nvSpPr>
        <p:spPr>
          <a:xfrm xmlns:a="http://schemas.openxmlformats.org/drawingml/2006/main">
            <a:off x="876300" y="2838450"/>
            <a:ext cx="2609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a:solidFill>
                  <a:srgbClr val="F7FAFC"/>
                </a:solidFill>
                <a:latin typeface="Aptos"/>
                <a:ea typeface="Aptos"/>
                <a:cs typeface="Aptos"/>
              </a:defRPr>
            </a:pPr>
            <a:r>
              <a:rPr sz="1650" b="0">
                <a:solidFill>
                  <a:srgbClr val="F7FAFC"/>
                </a:solidFill>
                <a:latin typeface="Aptos"/>
                <a:ea typeface="Aptos"/>
                <a:cs typeface="Aptos"/>
              </a:rPr>
              <a:t>measured, repetitive, structured</a:t>
            </a:r>
          </a:p>
        </p:txBody>
      </p:sp>
      <p:sp>
        <p:nvSpPr>
          <p:cNvPr id="7" name="s6-arrow-0">
            <a:extLst xmlns:a="http://schemas.openxmlformats.org/drawingml/2006/main">
              <a:ext uri="{FF2B5EF4-FFF2-40B4-BE49-F238E27FC236}">
                <a16:creationId xmlns:a16="http://schemas.microsoft.com/office/drawing/2014/main" id="{49242B85-6866-4B9F-81F8-BD92F941C72F}"/>
              </a:ext>
            </a:extLst>
          </p:cNvPr>
          <p:cNvSpPr>
            <a:spLocks xmlns:a="http://schemas.openxmlformats.org/drawingml/2006/main" noGrp="1"/>
          </p:cNvSpPr>
          <p:nvPr/>
        </p:nvSpPr>
        <p:spPr>
          <a:xfrm xmlns:a="http://schemas.openxmlformats.org/drawingml/2006/main">
            <a:off x="3848100" y="2543175"/>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550" b="1">
                <a:solidFill>
                  <a:srgbClr val="8B95A7"/>
                </a:solidFill>
                <a:latin typeface="Aptos"/>
                <a:ea typeface="Aptos"/>
                <a:cs typeface="Aptos"/>
              </a:defRPr>
            </a:pPr>
            <a:r>
              <a:rPr sz="2550" b="1">
                <a:solidFill>
                  <a:srgbClr val="8B95A7"/>
                </a:solidFill>
                <a:latin typeface="Aptos"/>
                <a:ea typeface="Aptos"/>
                <a:cs typeface="Aptos"/>
              </a:rPr>
              <a:t>→</a:t>
            </a:r>
          </a:p>
        </p:txBody>
      </p:sp>
      <p:sp>
        <p:nvSpPr>
          <p:cNvPr id="8" name="s6-stage-1">
            <a:extLst xmlns:a="http://schemas.openxmlformats.org/drawingml/2006/main">
              <a:ext uri="{FF2B5EF4-FFF2-40B4-BE49-F238E27FC236}">
                <a16:creationId xmlns:a16="http://schemas.microsoft.com/office/drawing/2014/main" id="{F89B42DB-BA0F-47C9-BA38-D83DEF62A315}"/>
              </a:ext>
            </a:extLst>
          </p:cNvPr>
          <p:cNvSpPr>
            <a:spLocks xmlns:a="http://schemas.openxmlformats.org/drawingml/2006/main" noGrp="1"/>
          </p:cNvSpPr>
          <p:nvPr/>
        </p:nvSpPr>
        <p:spPr>
          <a:xfrm xmlns:a="http://schemas.openxmlformats.org/drawingml/2006/main">
            <a:off x="4324350" y="2000250"/>
            <a:ext cx="3143250" cy="1524000"/>
          </a:xfrm>
          <a:prstGeom xmlns:a="http://schemas.openxmlformats.org/drawingml/2006/main" prst="roundRect">
            <a:avLst>
              <a:gd name="adj" fmla="val 12500"/>
            </a:avLst>
          </a:prstGeom>
          <a:solidFill xmlns:a="http://schemas.openxmlformats.org/drawingml/2006/main">
            <a:srgbClr val="0E1520"/>
          </a:solidFill>
          <a:ln xmlns:a="http://schemas.openxmlformats.org/drawingml/2006/main" w="19050">
            <a:solidFill>
              <a:srgbClr val="B8FF5A"/>
            </a:solidFill>
            <a:prstDash val="solid"/>
          </a:ln>
        </p:spPr>
      </p:sp>
      <p:sp>
        <p:nvSpPr>
          <p:cNvPr id="9" name="s6-stage-title-1">
            <a:extLst xmlns:a="http://schemas.openxmlformats.org/drawingml/2006/main">
              <a:ext uri="{FF2B5EF4-FFF2-40B4-BE49-F238E27FC236}">
                <a16:creationId xmlns:a16="http://schemas.microsoft.com/office/drawing/2014/main" id="{3E957CD3-7F53-4C70-BB3D-B28CD37837A0}"/>
              </a:ext>
            </a:extLst>
          </p:cNvPr>
          <p:cNvSpPr>
            <a:spLocks xmlns:a="http://schemas.openxmlformats.org/drawingml/2006/main" noGrp="1"/>
          </p:cNvSpPr>
          <p:nvPr/>
        </p:nvSpPr>
        <p:spPr>
          <a:xfrm xmlns:a="http://schemas.openxmlformats.org/drawingml/2006/main">
            <a:off x="4552950" y="232410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B8FF5A"/>
                </a:solidFill>
                <a:latin typeface="Consolas"/>
                <a:ea typeface="Consolas"/>
                <a:cs typeface="Consolas"/>
              </a:defRPr>
            </a:pPr>
            <a:r>
              <a:rPr sz="1575" b="1">
                <a:solidFill>
                  <a:srgbClr val="B8FF5A"/>
                </a:solidFill>
                <a:latin typeface="Consolas"/>
                <a:ea typeface="Consolas"/>
                <a:cs typeface="Consolas"/>
              </a:rPr>
              <a:t>ONE PLATFORM TEAM</a:t>
            </a:r>
          </a:p>
        </p:txBody>
      </p:sp>
      <p:sp>
        <p:nvSpPr>
          <p:cNvPr id="10" name="s6-stage-sub-1">
            <a:extLst xmlns:a="http://schemas.openxmlformats.org/drawingml/2006/main">
              <a:ext uri="{FF2B5EF4-FFF2-40B4-BE49-F238E27FC236}">
                <a16:creationId xmlns:a16="http://schemas.microsoft.com/office/drawing/2014/main" id="{65B85E88-C71A-4391-A5FA-E9EBD654450E}"/>
              </a:ext>
            </a:extLst>
          </p:cNvPr>
          <p:cNvSpPr>
            <a:spLocks xmlns:a="http://schemas.openxmlformats.org/drawingml/2006/main" noGrp="1"/>
          </p:cNvSpPr>
          <p:nvPr/>
        </p:nvSpPr>
        <p:spPr>
          <a:xfrm xmlns:a="http://schemas.openxmlformats.org/drawingml/2006/main">
            <a:off x="4591050" y="2838450"/>
            <a:ext cx="2609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a:solidFill>
                  <a:srgbClr val="F7FAFC"/>
                </a:solidFill>
                <a:latin typeface="Aptos"/>
                <a:ea typeface="Aptos"/>
                <a:cs typeface="Aptos"/>
              </a:defRPr>
            </a:pPr>
            <a:r>
              <a:rPr sz="1650" b="0">
                <a:solidFill>
                  <a:srgbClr val="F7FAFC"/>
                </a:solidFill>
                <a:latin typeface="Aptos"/>
                <a:ea typeface="Aptos"/>
                <a:cs typeface="Aptos"/>
              </a:rPr>
              <a:t>shared proof + safe reuse</a:t>
            </a:r>
          </a:p>
        </p:txBody>
      </p:sp>
      <p:sp>
        <p:nvSpPr>
          <p:cNvPr id="11" name="s6-arrow-1">
            <a:extLst xmlns:a="http://schemas.openxmlformats.org/drawingml/2006/main">
              <a:ext uri="{FF2B5EF4-FFF2-40B4-BE49-F238E27FC236}">
                <a16:creationId xmlns:a16="http://schemas.microsoft.com/office/drawing/2014/main" id="{99DC27BA-4A34-4AAF-BF42-8D28F2B87AF4}"/>
              </a:ext>
            </a:extLst>
          </p:cNvPr>
          <p:cNvSpPr>
            <a:spLocks xmlns:a="http://schemas.openxmlformats.org/drawingml/2006/main" noGrp="1"/>
          </p:cNvSpPr>
          <p:nvPr/>
        </p:nvSpPr>
        <p:spPr>
          <a:xfrm xmlns:a="http://schemas.openxmlformats.org/drawingml/2006/main">
            <a:off x="7562850" y="2543175"/>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550" b="1">
                <a:solidFill>
                  <a:srgbClr val="8B95A7"/>
                </a:solidFill>
                <a:latin typeface="Aptos"/>
                <a:ea typeface="Aptos"/>
                <a:cs typeface="Aptos"/>
              </a:defRPr>
            </a:pPr>
            <a:r>
              <a:rPr sz="2550" b="1">
                <a:solidFill>
                  <a:srgbClr val="8B95A7"/>
                </a:solidFill>
                <a:latin typeface="Aptos"/>
                <a:ea typeface="Aptos"/>
                <a:cs typeface="Aptos"/>
              </a:rPr>
              <a:t>→</a:t>
            </a:r>
          </a:p>
        </p:txBody>
      </p:sp>
      <p:sp>
        <p:nvSpPr>
          <p:cNvPr id="12" name="s6-stage-2">
            <a:extLst xmlns:a="http://schemas.openxmlformats.org/drawingml/2006/main">
              <a:ext uri="{FF2B5EF4-FFF2-40B4-BE49-F238E27FC236}">
                <a16:creationId xmlns:a16="http://schemas.microsoft.com/office/drawing/2014/main" id="{7E2C9AC6-E2D2-4965-8F16-CFFB03E25A3A}"/>
              </a:ext>
            </a:extLst>
          </p:cNvPr>
          <p:cNvSpPr>
            <a:spLocks xmlns:a="http://schemas.openxmlformats.org/drawingml/2006/main" noGrp="1"/>
          </p:cNvSpPr>
          <p:nvPr/>
        </p:nvSpPr>
        <p:spPr>
          <a:xfrm xmlns:a="http://schemas.openxmlformats.org/drawingml/2006/main">
            <a:off x="8039100" y="2000250"/>
            <a:ext cx="3143250" cy="1524000"/>
          </a:xfrm>
          <a:prstGeom xmlns:a="http://schemas.openxmlformats.org/drawingml/2006/main" prst="roundRect">
            <a:avLst>
              <a:gd name="adj" fmla="val 12500"/>
            </a:avLst>
          </a:prstGeom>
          <a:solidFill xmlns:a="http://schemas.openxmlformats.org/drawingml/2006/main">
            <a:srgbClr val="0E1520"/>
          </a:solidFill>
          <a:ln xmlns:a="http://schemas.openxmlformats.org/drawingml/2006/main" w="19050">
            <a:solidFill>
              <a:srgbClr val="FFB84D"/>
            </a:solidFill>
            <a:prstDash val="solid"/>
          </a:ln>
        </p:spPr>
      </p:sp>
      <p:sp>
        <p:nvSpPr>
          <p:cNvPr id="13" name="s6-stage-title-2">
            <a:extLst xmlns:a="http://schemas.openxmlformats.org/drawingml/2006/main">
              <a:ext uri="{FF2B5EF4-FFF2-40B4-BE49-F238E27FC236}">
                <a16:creationId xmlns:a16="http://schemas.microsoft.com/office/drawing/2014/main" id="{E55F1771-414A-44F1-8615-5F1DAF7C17D6}"/>
              </a:ext>
            </a:extLst>
          </p:cNvPr>
          <p:cNvSpPr>
            <a:spLocks xmlns:a="http://schemas.openxmlformats.org/drawingml/2006/main" noGrp="1"/>
          </p:cNvSpPr>
          <p:nvPr/>
        </p:nvSpPr>
        <p:spPr>
          <a:xfrm xmlns:a="http://schemas.openxmlformats.org/drawingml/2006/main">
            <a:off x="8267700" y="232410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FFB84D"/>
                </a:solidFill>
                <a:latin typeface="Consolas"/>
                <a:ea typeface="Consolas"/>
                <a:cs typeface="Consolas"/>
              </a:defRPr>
            </a:pPr>
            <a:r>
              <a:rPr sz="1575" b="1">
                <a:solidFill>
                  <a:srgbClr val="FFB84D"/>
                </a:solidFill>
                <a:latin typeface="Consolas"/>
                <a:ea typeface="Consolas"/>
                <a:cs typeface="Consolas"/>
              </a:rPr>
              <a:t>ENTERPRISE FLEET</a:t>
            </a:r>
          </a:p>
        </p:txBody>
      </p:sp>
      <p:sp>
        <p:nvSpPr>
          <p:cNvPr id="14" name="s6-stage-sub-2">
            <a:extLst xmlns:a="http://schemas.openxmlformats.org/drawingml/2006/main">
              <a:ext uri="{FF2B5EF4-FFF2-40B4-BE49-F238E27FC236}">
                <a16:creationId xmlns:a16="http://schemas.microsoft.com/office/drawing/2014/main" id="{91AF85C2-8A0C-4FC7-9385-FA82CA97369B}"/>
              </a:ext>
            </a:extLst>
          </p:cNvPr>
          <p:cNvSpPr>
            <a:spLocks xmlns:a="http://schemas.openxmlformats.org/drawingml/2006/main" noGrp="1"/>
          </p:cNvSpPr>
          <p:nvPr/>
        </p:nvSpPr>
        <p:spPr>
          <a:xfrm xmlns:a="http://schemas.openxmlformats.org/drawingml/2006/main">
            <a:off x="8305800" y="2838450"/>
            <a:ext cx="2609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a:solidFill>
                  <a:srgbClr val="F7FAFC"/>
                </a:solidFill>
                <a:latin typeface="Aptos"/>
                <a:ea typeface="Aptos"/>
                <a:cs typeface="Aptos"/>
              </a:defRPr>
            </a:pPr>
            <a:r>
              <a:rPr sz="1650" b="0">
                <a:solidFill>
                  <a:srgbClr val="F7FAFC"/>
                </a:solidFill>
                <a:latin typeface="Aptos"/>
                <a:ea typeface="Aptos"/>
                <a:cs typeface="Aptos"/>
              </a:rPr>
              <a:t>policy · budgets · chargeback</a:t>
            </a:r>
          </a:p>
        </p:txBody>
      </p:sp>
      <p:sp>
        <p:nvSpPr>
          <p:cNvPr id="15" name="s6-direction">
            <a:extLst xmlns:a="http://schemas.openxmlformats.org/drawingml/2006/main">
              <a:ext uri="{FF2B5EF4-FFF2-40B4-BE49-F238E27FC236}">
                <a16:creationId xmlns:a16="http://schemas.microsoft.com/office/drawing/2014/main" id="{FA508E87-AD1B-4F2C-AE43-771BA5316A35}"/>
              </a:ext>
            </a:extLst>
          </p:cNvPr>
          <p:cNvSpPr>
            <a:spLocks xmlns:a="http://schemas.openxmlformats.org/drawingml/2006/main" noGrp="1"/>
          </p:cNvSpPr>
          <p:nvPr/>
        </p:nvSpPr>
        <p:spPr>
          <a:xfrm xmlns:a="http://schemas.openxmlformats.org/drawingml/2006/main">
            <a:off x="8972550" y="3714750"/>
            <a:ext cx="220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B84D"/>
                </a:solidFill>
                <a:latin typeface="Consolas"/>
                <a:ea typeface="Consolas"/>
                <a:cs typeface="Consolas"/>
              </a:defRPr>
            </a:pPr>
            <a:r>
              <a:rPr sz="1050" b="1">
                <a:solidFill>
                  <a:srgbClr val="FFB84D"/>
                </a:solidFill>
                <a:latin typeface="Consolas"/>
                <a:ea typeface="Consolas"/>
                <a:cs typeface="Consolas"/>
              </a:rPr>
              <a:t>PRODUCT DIRECTION</a:t>
            </a:r>
          </a:p>
        </p:txBody>
      </p:sp>
      <p:sp>
        <p:nvSpPr>
          <p:cNvPr id="16" name="s6-divider">
            <a:extLst xmlns:a="http://schemas.openxmlformats.org/drawingml/2006/main">
              <a:ext uri="{FF2B5EF4-FFF2-40B4-BE49-F238E27FC236}">
                <a16:creationId xmlns:a16="http://schemas.microsoft.com/office/drawing/2014/main" id="{FAD75E66-5F32-4DD6-BA93-0F8CC3B728FC}"/>
              </a:ext>
            </a:extLst>
          </p:cNvPr>
          <p:cNvSpPr>
            <a:spLocks xmlns:a="http://schemas.openxmlformats.org/drawingml/2006/main" noGrp="1"/>
          </p:cNvSpPr>
          <p:nvPr/>
        </p:nvSpPr>
        <p:spPr>
          <a:xfrm xmlns:a="http://schemas.openxmlformats.org/drawingml/2006/main">
            <a:off x="609600" y="4324350"/>
            <a:ext cx="10972800" cy="0"/>
          </a:xfrm>
          <a:prstGeom xmlns:a="http://schemas.openxmlformats.org/drawingml/2006/main" prst="line">
            <a:avLst/>
          </a:prstGeom>
          <a:noFill xmlns:a="http://schemas.openxmlformats.org/drawingml/2006/main"/>
          <a:ln xmlns:a="http://schemas.openxmlformats.org/drawingml/2006/main" w="9525">
            <a:solidFill>
              <a:srgbClr val="4B586B"/>
            </a:solidFill>
            <a:prstDash val="solid"/>
          </a:ln>
        </p:spPr>
      </p:sp>
      <p:sp>
        <p:nvSpPr>
          <p:cNvPr id="17" name="s6-close">
            <a:extLst xmlns:a="http://schemas.openxmlformats.org/drawingml/2006/main">
              <a:ext uri="{FF2B5EF4-FFF2-40B4-BE49-F238E27FC236}">
                <a16:creationId xmlns:a16="http://schemas.microsoft.com/office/drawing/2014/main" id="{3A0AF783-D0C5-4853-BC4A-A750A4805A3A}"/>
              </a:ext>
            </a:extLst>
          </p:cNvPr>
          <p:cNvSpPr>
            <a:spLocks xmlns:a="http://schemas.openxmlformats.org/drawingml/2006/main" noGrp="1"/>
          </p:cNvSpPr>
          <p:nvPr/>
        </p:nvSpPr>
        <p:spPr>
          <a:xfrm xmlns:a="http://schemas.openxmlformats.org/drawingml/2006/main">
            <a:off x="609600" y="4686300"/>
            <a:ext cx="7620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775" b="1">
                <a:solidFill>
                  <a:srgbClr val="F7FAFC"/>
                </a:solidFill>
                <a:latin typeface="Aptos Display"/>
                <a:ea typeface="Aptos Display"/>
                <a:cs typeface="Aptos Display"/>
              </a:defRPr>
            </a:pPr>
            <a:r>
              <a:rPr sz="2775" b="1">
                <a:solidFill>
                  <a:srgbClr val="F7FAFC"/>
                </a:solidFill>
                <a:latin typeface="Aptos Display"/>
                <a:ea typeface="Aptos Display"/>
                <a:cs typeface="Aptos Display"/>
              </a:rPr>
              <a:t>AI AGENTS SHOULD HAVE A LEARNING CURVE.</a:t>
            </a:r>
          </a:p>
          <a:p xmlns:a="http://schemas.openxmlformats.org/drawingml/2006/main">
            <a:pPr algn="l">
              <a:lnSpc>
                <a:spcPct val="98000"/>
              </a:lnSpc>
              <a:buNone/>
              <a:defRPr sz="2775" b="1">
                <a:solidFill>
                  <a:srgbClr val="F7FAFC"/>
                </a:solidFill>
                <a:latin typeface="Aptos Display"/>
                <a:ea typeface="Aptos Display"/>
                <a:cs typeface="Aptos Display"/>
              </a:defRPr>
            </a:pPr>
            <a:r>
              <a:rPr sz="2775" b="1">
                <a:solidFill>
                  <a:srgbClr val="F7FAFC"/>
                </a:solidFill>
                <a:latin typeface="Aptos Display"/>
                <a:ea typeface="Aptos Display"/>
                <a:cs typeface="Aptos Display"/>
              </a:rPr>
              <a:t>FINANCE SHOULD HAVE THE RECEIPT.</a:t>
            </a:r>
          </a:p>
        </p:txBody>
      </p:sp>
      <p:sp>
        <p:nvSpPr>
          <p:cNvPr id="18" name="s6-brand">
            <a:extLst xmlns:a="http://schemas.openxmlformats.org/drawingml/2006/main">
              <a:ext uri="{FF2B5EF4-FFF2-40B4-BE49-F238E27FC236}">
                <a16:creationId xmlns:a16="http://schemas.microsoft.com/office/drawing/2014/main" id="{A124C2C7-F91F-473F-B439-892032D00C41}"/>
              </a:ext>
            </a:extLst>
          </p:cNvPr>
          <p:cNvSpPr>
            <a:spLocks xmlns:a="http://schemas.openxmlformats.org/drawingml/2006/main" noGrp="1"/>
          </p:cNvSpPr>
          <p:nvPr/>
        </p:nvSpPr>
        <p:spPr>
          <a:xfrm xmlns:a="http://schemas.openxmlformats.org/drawingml/2006/main">
            <a:off x="8534400" y="46863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3150" b="1">
                <a:solidFill>
                  <a:srgbClr val="B8FF5A"/>
                </a:solidFill>
                <a:latin typeface="Aptos Display"/>
                <a:ea typeface="Aptos Display"/>
                <a:cs typeface="Aptos Display"/>
              </a:defRPr>
            </a:pPr>
            <a:r>
              <a:rPr sz="3150" b="1">
                <a:solidFill>
                  <a:srgbClr val="B8FF5A"/>
                </a:solidFill>
                <a:latin typeface="Aptos Display"/>
                <a:ea typeface="Aptos Display"/>
                <a:cs typeface="Aptos Display"/>
              </a:rPr>
              <a:t>AMORTIZE</a:t>
            </a:r>
          </a:p>
        </p:txBody>
      </p:sp>
      <p:sp>
        <p:nvSpPr>
          <p:cNvPr id="19" name="s6-url">
            <a:extLst xmlns:a="http://schemas.openxmlformats.org/drawingml/2006/main">
              <a:ext uri="{FF2B5EF4-FFF2-40B4-BE49-F238E27FC236}">
                <a16:creationId xmlns:a16="http://schemas.microsoft.com/office/drawing/2014/main" id="{C554CFC0-B7C4-401D-A4E9-0F452F60F9A3}"/>
              </a:ext>
            </a:extLst>
          </p:cNvPr>
          <p:cNvSpPr>
            <a:spLocks xmlns:a="http://schemas.openxmlformats.org/drawingml/2006/main" noGrp="1"/>
          </p:cNvSpPr>
          <p:nvPr/>
        </p:nvSpPr>
        <p:spPr>
          <a:xfrm xmlns:a="http://schemas.openxmlformats.org/drawingml/2006/main">
            <a:off x="8534400" y="5314950"/>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29B5E8"/>
                </a:solidFill>
                <a:latin typeface="Consolas"/>
                <a:ea typeface="Consolas"/>
                <a:cs typeface="Consolas"/>
              </a:defRPr>
            </a:pPr>
            <a:r>
              <a:rPr sz="1200" b="1">
                <a:solidFill>
                  <a:srgbClr val="29B5E8"/>
                </a:solidFill>
                <a:latin typeface="Consolas"/>
                <a:ea typeface="Consolas"/>
                <a:cs typeface="Consolas"/>
              </a:rPr>
              <a:t>github.com/vraj00222/Amort</a:t>
            </a:r>
          </a:p>
        </p:txBody>
      </p:sp>
      <p:sp>
        <p:nvSpPr>
          <p:cNvPr id="20" name="s6-last">
            <a:extLst xmlns:a="http://schemas.openxmlformats.org/drawingml/2006/main">
              <a:ext uri="{FF2B5EF4-FFF2-40B4-BE49-F238E27FC236}">
                <a16:creationId xmlns:a16="http://schemas.microsoft.com/office/drawing/2014/main" id="{3F28E4F2-4137-4547-8F07-F5A1E78DAF3A}"/>
              </a:ext>
            </a:extLst>
          </p:cNvPr>
          <p:cNvSpPr>
            <a:spLocks xmlns:a="http://schemas.openxmlformats.org/drawingml/2006/main" noGrp="1"/>
          </p:cNvSpPr>
          <p:nvPr/>
        </p:nvSpPr>
        <p:spPr>
          <a:xfrm xmlns:a="http://schemas.openxmlformats.org/drawingml/2006/main">
            <a:off x="609600" y="5943600"/>
            <a:ext cx="10972800" cy="457200"/>
          </a:xfrm>
          <a:prstGeom xmlns:a="http://schemas.openxmlformats.org/drawingml/2006/main" prst="roundRect">
            <a:avLst>
              <a:gd name="adj" fmla="val 25000"/>
            </a:avLst>
          </a:prstGeom>
          <a:solidFill xmlns:a="http://schemas.openxmlformats.org/drawingml/2006/main">
            <a:srgbClr val="B8FF5A"/>
          </a:solidFill>
          <a:ln xmlns:a="http://schemas.openxmlformats.org/drawingml/2006/main" w="0">
            <a:noFill/>
            <a:prstDash val="solid"/>
          </a:ln>
        </p:spPr>
      </p:sp>
      <p:sp>
        <p:nvSpPr>
          <p:cNvPr id="21" name="s6-last-text">
            <a:extLst xmlns:a="http://schemas.openxmlformats.org/drawingml/2006/main">
              <a:ext uri="{FF2B5EF4-FFF2-40B4-BE49-F238E27FC236}">
                <a16:creationId xmlns:a16="http://schemas.microsoft.com/office/drawing/2014/main" id="{3DF4F83E-DCAE-4869-84DF-CFD3CEB922D8}"/>
              </a:ext>
            </a:extLst>
          </p:cNvPr>
          <p:cNvSpPr>
            <a:spLocks xmlns:a="http://schemas.openxmlformats.org/drawingml/2006/main" noGrp="1"/>
          </p:cNvSpPr>
          <p:nvPr/>
        </p:nvSpPr>
        <p:spPr>
          <a:xfrm xmlns:a="http://schemas.openxmlformats.org/drawingml/2006/main">
            <a:off x="838200" y="6057900"/>
            <a:ext cx="1051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070A0F"/>
                </a:solidFill>
                <a:latin typeface="Consolas"/>
                <a:ea typeface="Consolas"/>
                <a:cs typeface="Consolas"/>
              </a:defRPr>
            </a:pPr>
            <a:r>
              <a:rPr sz="1500" b="1">
                <a:solidFill>
                  <a:srgbClr val="070A0F"/>
                </a:solidFill>
                <a:latin typeface="Consolas"/>
                <a:ea typeface="Consolas"/>
                <a:cs typeface="Consolas"/>
              </a:rPr>
              <a:t>THE COST DROPS. THE GRADED OUTPUT DOESN'T.</a:t>
            </a:r>
          </a:p>
        </p:txBody>
      </p:sp>
    </p:spTree>
    <p:extLst>
      <p:ext uri="{BB962C8B-B14F-4D97-AF65-F5344CB8AC3E}">
        <p14:creationId xmlns:p14="http://schemas.microsoft.com/office/powerpoint/2010/main" val="19232882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2026-08-07T19:09:41.1650000Z</dcterms:created>
  <dcterms:modified xsi:type="dcterms:W3CDTF">2026-08-07T19:09:41.1650000Z</dcterms:modified>
</coreProperties>
</file>